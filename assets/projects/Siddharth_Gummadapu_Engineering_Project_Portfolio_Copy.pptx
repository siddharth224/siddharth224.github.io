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61" r:id="rId5"/>
    <p:sldId id="273" r:id="rId6"/>
    <p:sldId id="264" r:id="rId7"/>
    <p:sldId id="265" r:id="rId8"/>
    <p:sldId id="266" r:id="rId9"/>
    <p:sldId id="267" r:id="rId10"/>
    <p:sldId id="270" r:id="rId11"/>
    <p:sldId id="271" r:id="rId12"/>
    <p:sldId id="272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3724-2232-56A2-B02E-C3FD2B4B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F8522-AB7C-F183-5C7D-72F5371F5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0EDD3-1448-9771-8B79-E8D3F385B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5AC22-E7BD-BB60-FFBC-B0B7E984881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41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90F69B-C2F0-4680-9D25-75A72B3574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28A83-A4E0-4454-A41D-53F9BA68F854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SIDDHARTH GUMMADAPU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195C7D-E392-4005-AB7E-961E0F2DCC23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5143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Engineering</a:t>
            </a:r>
          </a:p>
          <a:p>
            <a:pPr algn="l">
              <a:defRPr sz="4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Project Portfolio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656C5-7BC2-449C-B805-9BA7D5F13E92}"/>
              </a:ext>
            </a:extLst>
          </p:cNvPr>
          <p:cNvSpPr>
            <a:spLocks noGrp="1"/>
          </p:cNvSpPr>
          <p:nvPr/>
        </p:nvSpPr>
        <p:spPr>
          <a:xfrm>
            <a:off x="571499" y="3524250"/>
            <a:ext cx="53339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Mechanical Engineering + Computer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74202-B2ED-4A5A-B657-C062B88D986C}"/>
              </a:ext>
            </a:extLst>
          </p:cNvPr>
          <p:cNvSpPr>
            <a:spLocks noGrp="1"/>
          </p:cNvSpPr>
          <p:nvPr/>
        </p:nvSpPr>
        <p:spPr>
          <a:xfrm>
            <a:off x="571499" y="38195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16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UIUC</a:t>
            </a:r>
            <a:endParaRPr sz="1650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93C27-D6EC-483C-A4BF-7292AADF8C15}"/>
              </a:ext>
            </a:extLst>
          </p:cNvPr>
          <p:cNvSpPr>
            <a:spLocks noGrp="1"/>
          </p:cNvSpPr>
          <p:nvPr/>
        </p:nvSpPr>
        <p:spPr>
          <a:xfrm>
            <a:off x="504827" y="5619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sg97@illinois.edu  |  linkedin.com/in/</a:t>
            </a:r>
            <a:r>
              <a:rPr sz="1125" b="0" i="0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siddharth-gummadapu</a:t>
            </a:r>
            <a:endParaRPr sz="1125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F36688-546C-4804-A37F-71FD9B502372}"/>
              </a:ext>
            </a:extLst>
          </p:cNvPr>
          <p:cNvSpPr>
            <a:spLocks noGrp="1"/>
          </p:cNvSpPr>
          <p:nvPr/>
        </p:nvSpPr>
        <p:spPr>
          <a:xfrm>
            <a:off x="6238875" y="5562600"/>
            <a:ext cx="5429250" cy="866775"/>
          </a:xfrm>
          <a:prstGeom prst="rect">
            <a:avLst/>
          </a:prstGeom>
          <a:solidFill>
            <a:srgbClr val="111318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F256A2-0476-4838-B42F-65D96B9AE49B}"/>
              </a:ext>
            </a:extLst>
          </p:cNvPr>
          <p:cNvSpPr>
            <a:spLocks noGrp="1"/>
          </p:cNvSpPr>
          <p:nvPr/>
        </p:nvSpPr>
        <p:spPr>
          <a:xfrm>
            <a:off x="6477000" y="5734050"/>
            <a:ext cx="490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6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15061A-4A99-A22E-296A-E610CB001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5" y="261257"/>
            <a:ext cx="5432616" cy="53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8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7AC32DF-5FCB-435A-A8FF-9E0E4997490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1BBF8A-4ACF-4F54-A7B2-D0A15933C3EB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BOEING — 777X STRUCTURES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4752A-BBA5-4E01-8153-CC24777760AD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Closed a 777</a:t>
            </a:r>
            <a:r>
              <a:rPr lang="en-US" sz="31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-8F</a:t>
            </a:r>
            <a:r>
              <a:rPr sz="31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assembly gap by 50%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C9D43-707F-44A1-8C64-E17E718202D4}"/>
              </a:ext>
            </a:extLst>
          </p:cNvPr>
          <p:cNvSpPr>
            <a:spLocks noGrp="1"/>
          </p:cNvSpPr>
          <p:nvPr/>
        </p:nvSpPr>
        <p:spPr>
          <a:xfrm>
            <a:off x="400049" y="1362075"/>
            <a:ext cx="1178379" cy="1401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EE1FB-A9B1-4319-B92A-0E27E8E387AE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Mitigate a factory build hazard without disrupting the surrounding primary-structure architecture.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E0B2508-8F38-492D-9689-9C1D4AFAB62B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6184343-409E-444D-BDC1-924805C45CB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DFB60-B28A-410E-AEE5-CC67830E7A71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2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23844F-72DC-43D8-805E-975F0E1C0EEE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ENGINEERING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DB4C8-D7B5-4DEC-8D98-AD2101EDE2E5}"/>
              </a:ext>
            </a:extLst>
          </p:cNvPr>
          <p:cNvSpPr>
            <a:spLocks noGrp="1"/>
          </p:cNvSpPr>
          <p:nvPr/>
        </p:nvSpPr>
        <p:spPr>
          <a:xfrm>
            <a:off x="400050" y="2371725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ED36F9-F58D-475E-8FFD-C82C59A0063A}"/>
              </a:ext>
            </a:extLst>
          </p:cNvPr>
          <p:cNvSpPr>
            <a:spLocks noGrp="1"/>
          </p:cNvSpPr>
          <p:nvPr/>
        </p:nvSpPr>
        <p:spPr>
          <a:xfrm>
            <a:off x="609600" y="2371725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Traced the local structure and assembly sequence to define the redesign envelope.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CBCED7-B976-4884-AF26-1772C31275C7}"/>
              </a:ext>
            </a:extLst>
          </p:cNvPr>
          <p:cNvSpPr>
            <a:spLocks noGrp="1"/>
          </p:cNvSpPr>
          <p:nvPr/>
        </p:nvSpPr>
        <p:spPr>
          <a:xfrm>
            <a:off x="400050" y="2962275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4AFD05-0265-4C11-A4CC-86286E08B16A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Redesigned airframe components in CATIA while preserving interfaces and build intent.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24354-2DCE-410E-AC08-AB32198D4778}"/>
              </a:ext>
            </a:extLst>
          </p:cNvPr>
          <p:cNvSpPr>
            <a:spLocks noGrp="1"/>
          </p:cNvSpPr>
          <p:nvPr/>
        </p:nvSpPr>
        <p:spPr>
          <a:xfrm>
            <a:off x="400050" y="3552825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F7055-063E-49B8-A192-7176F69DCFB8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Created ASME Y14.5 drawings, rework instructions, and alignment pilot holes for production use.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C61EBC-386B-4AC0-B8C2-0A9D4F089F14}"/>
              </a:ext>
            </a:extLst>
          </p:cNvPr>
          <p:cNvSpPr>
            <a:spLocks noGrp="1"/>
          </p:cNvSpPr>
          <p:nvPr/>
        </p:nvSpPr>
        <p:spPr>
          <a:xfrm>
            <a:off x="400050" y="5057775"/>
            <a:ext cx="66675" cy="857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444F9-F416-4392-BAEB-EA9963D8A23D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1D9D7B-1FEF-451A-9980-3C474A082C07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4552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Reduced the hazardous assembly opening by approximately 50% and enabled a producible rework path.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95DD89-AA61-412F-B300-8E7A97AA76E5}"/>
              </a:ext>
            </a:extLst>
          </p:cNvPr>
          <p:cNvSpPr>
            <a:spLocks noGrp="1"/>
          </p:cNvSpPr>
          <p:nvPr/>
        </p:nvSpPr>
        <p:spPr>
          <a:xfrm>
            <a:off x="5619750" y="1990725"/>
            <a:ext cx="6172200" cy="3924300"/>
          </a:xfrm>
          <a:prstGeom prst="roundRect">
            <a:avLst>
              <a:gd name="adj" fmla="val 194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rcRect l="850" r="850"/>
          <a:stretch>
            <a:fillRect/>
          </a:stretch>
        </p:blipFill>
        <p:spPr>
          <a:xfrm>
            <a:off x="5619750" y="1990725"/>
            <a:ext cx="6172200" cy="3924300"/>
          </a:xfrm>
          <a:prstGeom prst="roundRect">
            <a:avLst>
              <a:gd name="adj" fmla="val 1942"/>
            </a:avLst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BE5B347-C219-46B8-A035-37024A4306D3}"/>
              </a:ext>
            </a:extLst>
          </p:cNvPr>
          <p:cNvSpPr>
            <a:spLocks noGrp="1"/>
          </p:cNvSpPr>
          <p:nvPr/>
        </p:nvSpPr>
        <p:spPr>
          <a:xfrm>
            <a:off x="5753100" y="60198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 i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A6472"/>
                </a:solidFill>
                <a:latin typeface="Arial"/>
                <a:ea typeface="Arial"/>
                <a:cs typeface="Arial"/>
              </a:rPr>
              <a:t>PROGRAM CONTEXT — public 777-8F rendering; no proprietary geometry shown</a:t>
            </a:r>
          </a:p>
        </p:txBody>
      </p:sp>
    </p:spTree>
    <p:extLst>
      <p:ext uri="{BB962C8B-B14F-4D97-AF65-F5344CB8AC3E}">
        <p14:creationId xmlns:p14="http://schemas.microsoft.com/office/powerpoint/2010/main" val="2600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D74586-3D39-40C8-BDF3-69648472E73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428EA-9A97-4B84-BC07-C627121C797E}"/>
              </a:ext>
            </a:extLst>
          </p:cNvPr>
          <p:cNvSpPr>
            <a:spLocks noGrp="1"/>
          </p:cNvSpPr>
          <p:nvPr/>
        </p:nvSpPr>
        <p:spPr>
          <a:xfrm>
            <a:off x="400049" y="428624"/>
            <a:ext cx="3007179" cy="323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BAE SYSTEMS — A</a:t>
            </a:r>
            <a:r>
              <a:rPr lang="en-US"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VIONICS MECHANICAL</a:t>
            </a:r>
            <a:endParaRPr sz="975" b="1" i="0" dirty="0">
              <a:solidFill>
                <a:srgbClr val="163C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248D10-BE27-4D09-8822-1D023223E4B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Validated an ESD-safe fixture at 3× margin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130BFF-49C9-45A3-B487-A10E2B98FB6C}"/>
              </a:ext>
            </a:extLst>
          </p:cNvPr>
          <p:cNvSpPr>
            <a:spLocks noGrp="1"/>
          </p:cNvSpPr>
          <p:nvPr/>
        </p:nvSpPr>
        <p:spPr>
          <a:xfrm>
            <a:off x="400049" y="1362075"/>
            <a:ext cx="1221921" cy="2762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3DD2D2-8AFF-4DE2-B282-F4B74AF41304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Replace slow screw-mounted flight-test hardware with a fast, manufacturable retention concept.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D2E84E6-EE8C-49E2-AEFD-E684FF5755DC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1132B7B-491C-429B-87A2-B7755873BE0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07611-0BC3-4D59-A5FD-4119AD1E125F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3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3575B7-97ED-4726-9F90-A775E69AFAA7}"/>
              </a:ext>
            </a:extLst>
          </p:cNvPr>
          <p:cNvSpPr>
            <a:spLocks noGrp="1"/>
          </p:cNvSpPr>
          <p:nvPr/>
        </p:nvSpPr>
        <p:spPr>
          <a:xfrm>
            <a:off x="400050" y="200977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DESIGN → ANALYSIS → 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FD95FA-AE36-4FC8-AD09-FABE3A1AF164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2F0933-0B56-4274-ACC1-F83CC03AE11B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838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Owned requirements, CAD/prototyping, PETG material trade study, </a:t>
            </a:r>
            <a:r>
              <a:rPr lang="en-US" sz="1275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ANSYS</a:t>
            </a: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modeling, and physical validation.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87B26-E17C-4D53-9791-CA4DC426CDCF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B9EFBB-199E-4461-A0CA-DE2E3E83A461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4838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 modal and random-vibration analyses; extracted the pin-cap interface 3σ load demand.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152C54-4605-46DD-8A7F-EB2A22D003D4}"/>
              </a:ext>
            </a:extLst>
          </p:cNvPr>
          <p:cNvSpPr>
            <a:spLocks noGrp="1"/>
          </p:cNvSpPr>
          <p:nvPr/>
        </p:nvSpPr>
        <p:spPr>
          <a:xfrm>
            <a:off x="400050" y="3419475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E25C7-D16B-4DF0-BB84-14A4A9A32716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4838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Repeated force-gauge pull tests and used a conservative lower-bound retention value.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8CE435-5697-4368-864E-A89CB93394BA}"/>
              </a:ext>
            </a:extLst>
          </p:cNvPr>
          <p:cNvSpPr>
            <a:spLocks noGrp="1"/>
          </p:cNvSpPr>
          <p:nvPr/>
        </p:nvSpPr>
        <p:spPr>
          <a:xfrm>
            <a:off x="400050" y="4305300"/>
            <a:ext cx="2381250" cy="1238250"/>
          </a:xfrm>
          <a:prstGeom prst="roundRect">
            <a:avLst>
              <a:gd name="adj" fmla="val 7692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CFDC7F-382A-49EE-B260-1CEDF456F6EE}"/>
              </a:ext>
            </a:extLst>
          </p:cNvPr>
          <p:cNvSpPr>
            <a:spLocks noGrp="1"/>
          </p:cNvSpPr>
          <p:nvPr/>
        </p:nvSpPr>
        <p:spPr>
          <a:xfrm>
            <a:off x="571500" y="445770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3×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80EDC5-C7EC-4DF1-ABC3-CE393474311A}"/>
              </a:ext>
            </a:extLst>
          </p:cNvPr>
          <p:cNvSpPr>
            <a:spLocks noGrp="1"/>
          </p:cNvSpPr>
          <p:nvPr/>
        </p:nvSpPr>
        <p:spPr>
          <a:xfrm>
            <a:off x="571500" y="4933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measured retention margin over predicted 3σ vibration demand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CDA420-EFB1-4B32-BAA1-2DAB5F6DF3FF}"/>
              </a:ext>
            </a:extLst>
          </p:cNvPr>
          <p:cNvSpPr>
            <a:spLocks noGrp="1"/>
          </p:cNvSpPr>
          <p:nvPr/>
        </p:nvSpPr>
        <p:spPr>
          <a:xfrm>
            <a:off x="2952750" y="4305300"/>
            <a:ext cx="2495550" cy="1238250"/>
          </a:xfrm>
          <a:prstGeom prst="roundRect">
            <a:avLst>
              <a:gd name="adj" fmla="val 7692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BE3516-5447-4CD3-A71B-B4D815C9DFAC}"/>
              </a:ext>
            </a:extLst>
          </p:cNvPr>
          <p:cNvSpPr>
            <a:spLocks noGrp="1"/>
          </p:cNvSpPr>
          <p:nvPr/>
        </p:nvSpPr>
        <p:spPr>
          <a:xfrm>
            <a:off x="3124200" y="4457700"/>
            <a:ext cx="2152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ESD-safe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F5D7BA-72EE-4632-85CC-6D505D8217EA}"/>
              </a:ext>
            </a:extLst>
          </p:cNvPr>
          <p:cNvSpPr>
            <a:spLocks noGrp="1"/>
          </p:cNvSpPr>
          <p:nvPr/>
        </p:nvSpPr>
        <p:spPr>
          <a:xfrm>
            <a:off x="3124200" y="4933950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material system for sensitive avionics hardware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75011F-30BC-48CD-B984-1952C61455AF}"/>
              </a:ext>
            </a:extLst>
          </p:cNvPr>
          <p:cNvSpPr>
            <a:spLocks noGrp="1"/>
          </p:cNvSpPr>
          <p:nvPr/>
        </p:nvSpPr>
        <p:spPr>
          <a:xfrm>
            <a:off x="5886450" y="2009775"/>
            <a:ext cx="2381250" cy="1638300"/>
          </a:xfrm>
          <a:prstGeom prst="roundRect">
            <a:avLst>
              <a:gd name="adj" fmla="val 348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6450" y="2038312"/>
            <a:ext cx="2381250" cy="1581225"/>
          </a:xfrm>
          <a:prstGeom prst="roundRect">
            <a:avLst>
              <a:gd name="adj" fmla="val 3488"/>
            </a:avLst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14B707-356F-48C2-8DCB-165DD02195A2}"/>
              </a:ext>
            </a:extLst>
          </p:cNvPr>
          <p:cNvSpPr>
            <a:spLocks noGrp="1"/>
          </p:cNvSpPr>
          <p:nvPr/>
        </p:nvSpPr>
        <p:spPr>
          <a:xfrm>
            <a:off x="8458200" y="2009775"/>
            <a:ext cx="3333750" cy="1638300"/>
          </a:xfrm>
          <a:prstGeom prst="roundRect">
            <a:avLst>
              <a:gd name="adj" fmla="val 348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37058" y="2009775"/>
            <a:ext cx="2376033" cy="1638300"/>
          </a:xfrm>
          <a:prstGeom prst="roundRect">
            <a:avLst>
              <a:gd name="adj" fmla="val 3488"/>
            </a:avLst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6C89768-E348-4100-96FF-167E6453EF9F}"/>
              </a:ext>
            </a:extLst>
          </p:cNvPr>
          <p:cNvSpPr>
            <a:spLocks noGrp="1"/>
          </p:cNvSpPr>
          <p:nvPr/>
        </p:nvSpPr>
        <p:spPr>
          <a:xfrm>
            <a:off x="5886450" y="3857625"/>
            <a:ext cx="3333750" cy="1676400"/>
          </a:xfrm>
          <a:prstGeom prst="roundRect">
            <a:avLst>
              <a:gd name="adj" fmla="val 3409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21499" y="3857625"/>
            <a:ext cx="2263652" cy="1676400"/>
          </a:xfrm>
          <a:prstGeom prst="roundRect">
            <a:avLst>
              <a:gd name="adj" fmla="val 3409"/>
            </a:avLst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362A5E-1019-4AB8-B331-95FD210D14E6}"/>
              </a:ext>
            </a:extLst>
          </p:cNvPr>
          <p:cNvSpPr>
            <a:spLocks noGrp="1"/>
          </p:cNvSpPr>
          <p:nvPr/>
        </p:nvSpPr>
        <p:spPr>
          <a:xfrm>
            <a:off x="9477375" y="3857625"/>
            <a:ext cx="1381125" cy="1676400"/>
          </a:xfrm>
          <a:prstGeom prst="roundRect">
            <a:avLst>
              <a:gd name="adj" fmla="val 413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697919" y="3857625"/>
            <a:ext cx="940037" cy="1676400"/>
          </a:xfrm>
          <a:prstGeom prst="roundRect">
            <a:avLst>
              <a:gd name="adj" fmla="val 4138"/>
            </a:avLst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6A72190C-2EA5-4EAF-AEAE-314CF4494AC0}"/>
              </a:ext>
            </a:extLst>
          </p:cNvPr>
          <p:cNvSpPr>
            <a:spLocks noGrp="1"/>
          </p:cNvSpPr>
          <p:nvPr/>
        </p:nvSpPr>
        <p:spPr>
          <a:xfrm>
            <a:off x="5886450" y="56578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i="1" dirty="0">
                <a:solidFill>
                  <a:srgbClr val="5A6472"/>
                </a:solidFill>
                <a:latin typeface="Arial"/>
              </a:rPr>
              <a:t>Representative visuals only; no proprietary imagery or designs shown.</a:t>
            </a:r>
            <a:endParaRPr sz="825" b="0" i="1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546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C17B136-F672-4CEB-80AB-31722F20F0B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2E2843-598D-4843-A4CE-3F4D81128DC2}"/>
              </a:ext>
            </a:extLst>
          </p:cNvPr>
          <p:cNvSpPr>
            <a:spLocks noGrp="1"/>
          </p:cNvSpPr>
          <p:nvPr/>
        </p:nvSpPr>
        <p:spPr>
          <a:xfrm>
            <a:off x="400050" y="428624"/>
            <a:ext cx="2941864" cy="285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BAE SYSTEMS — RAPID PROTOTYPING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C9299-78FD-425D-8566-82D0F55ED0D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Cut rigid-flex fit-check cost by $5K per unit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C1513D-A488-4411-A5AA-45AEDD486E57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1123950" cy="2857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E833E-C9CF-44DB-8058-A8B0D488883B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Verify </a:t>
            </a:r>
            <a:r>
              <a:rPr lang="en-US"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rigid-flex-rigid backplane fit </a:t>
            </a:r>
            <a:r>
              <a:rPr lang="en-US" sz="135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for an LRU at a low cost and with low lead time</a:t>
            </a:r>
            <a:endParaRPr sz="1350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3A88336-0C53-4EA0-A1D9-67B1D0038865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47E7421-9195-44B6-A2B0-AAF39E2BDF4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0ABA3-9557-4920-B614-F068147704A2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4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E930B0-FE12-4395-9BFC-14D6D10856B0}"/>
              </a:ext>
            </a:extLst>
          </p:cNvPr>
          <p:cNvSpPr>
            <a:spLocks noGrp="1"/>
          </p:cNvSpPr>
          <p:nvPr/>
        </p:nvSpPr>
        <p:spPr>
          <a:xfrm>
            <a:off x="6508296" y="190500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$5,000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C566B1-EF15-48D3-9409-9BE21941977A}"/>
              </a:ext>
            </a:extLst>
          </p:cNvPr>
          <p:cNvSpPr>
            <a:spLocks noGrp="1"/>
          </p:cNvSpPr>
          <p:nvPr/>
        </p:nvSpPr>
        <p:spPr>
          <a:xfrm>
            <a:off x="6546396" y="2609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estimated savings per prototype unit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8A0B74-C114-4647-B879-43DF9268A482}"/>
              </a:ext>
            </a:extLst>
          </p:cNvPr>
          <p:cNvSpPr>
            <a:spLocks noGrp="1"/>
          </p:cNvSpPr>
          <p:nvPr/>
        </p:nvSpPr>
        <p:spPr>
          <a:xfrm>
            <a:off x="454479" y="2066924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WHAT I DID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0D6640-D271-47D7-A9A9-91C5F78681BF}"/>
              </a:ext>
            </a:extLst>
          </p:cNvPr>
          <p:cNvSpPr>
            <a:spLocks noGrp="1"/>
          </p:cNvSpPr>
          <p:nvPr/>
        </p:nvSpPr>
        <p:spPr>
          <a:xfrm>
            <a:off x="454479" y="2381249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93CC0F-57BC-4D95-8C38-AD9703F64324}"/>
              </a:ext>
            </a:extLst>
          </p:cNvPr>
          <p:cNvSpPr>
            <a:spLocks noGrp="1"/>
          </p:cNvSpPr>
          <p:nvPr/>
        </p:nvSpPr>
        <p:spPr>
          <a:xfrm>
            <a:off x="664029" y="2381249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Converted packaging-critical geometry into a 3D-printable fit-check surrogate.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D5CB6B-6E8A-4638-96E2-6D30A9FE8286}"/>
              </a:ext>
            </a:extLst>
          </p:cNvPr>
          <p:cNvSpPr>
            <a:spLocks noGrp="1"/>
          </p:cNvSpPr>
          <p:nvPr/>
        </p:nvSpPr>
        <p:spPr>
          <a:xfrm>
            <a:off x="454479" y="2924174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A575B3-9512-41B4-8761-7BBA0504B7E7}"/>
              </a:ext>
            </a:extLst>
          </p:cNvPr>
          <p:cNvSpPr>
            <a:spLocks noGrp="1"/>
          </p:cNvSpPr>
          <p:nvPr/>
        </p:nvSpPr>
        <p:spPr>
          <a:xfrm>
            <a:off x="664029" y="2924174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Preserved the features that controlled enclosure compatibility while removing unnecessary fabrication cost.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BC979B-1FB1-42A6-A271-12F0F869A1E8}"/>
              </a:ext>
            </a:extLst>
          </p:cNvPr>
          <p:cNvSpPr>
            <a:spLocks noGrp="1"/>
          </p:cNvSpPr>
          <p:nvPr/>
        </p:nvSpPr>
        <p:spPr>
          <a:xfrm>
            <a:off x="454479" y="3467099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CD9683-A2DC-4F56-A65A-987488F7A75F}"/>
              </a:ext>
            </a:extLst>
          </p:cNvPr>
          <p:cNvSpPr>
            <a:spLocks noGrp="1"/>
          </p:cNvSpPr>
          <p:nvPr/>
        </p:nvSpPr>
        <p:spPr>
          <a:xfrm>
            <a:off x="664029" y="3467099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Used the prototype to check physical integration before committing expensive rigid-flex hardware.</a:t>
            </a:r>
            <a:endParaRPr lang="en-US" sz="1275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endParaRPr sz="1275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D092F7-8886-44BF-AD7C-6A7B85D91F3D}"/>
              </a:ext>
            </a:extLst>
          </p:cNvPr>
          <p:cNvSpPr>
            <a:spLocks noGrp="1"/>
          </p:cNvSpPr>
          <p:nvPr/>
        </p:nvSpPr>
        <p:spPr>
          <a:xfrm>
            <a:off x="6591300" y="3320822"/>
            <a:ext cx="66675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2D7E2A-79EA-44CE-8C00-FA6C87588A98}"/>
              </a:ext>
            </a:extLst>
          </p:cNvPr>
          <p:cNvSpPr>
            <a:spLocks noGrp="1"/>
          </p:cNvSpPr>
          <p:nvPr/>
        </p:nvSpPr>
        <p:spPr>
          <a:xfrm>
            <a:off x="6800850" y="3262313"/>
            <a:ext cx="483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02505E-AE2B-473A-A208-ED128FAA3EEB}"/>
              </a:ext>
            </a:extLst>
          </p:cNvPr>
          <p:cNvSpPr>
            <a:spLocks noGrp="1"/>
          </p:cNvSpPr>
          <p:nvPr/>
        </p:nvSpPr>
        <p:spPr>
          <a:xfrm>
            <a:off x="6800850" y="3471863"/>
            <a:ext cx="483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Moved fit verification earlier and cheaper in the hardware-development 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cycle and made it in-house</a:t>
            </a: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93370D4-0412-1E21-3B80-ACCA1B61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75" y="4078543"/>
            <a:ext cx="3477911" cy="213042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3362FE74-68A6-8ABC-14A3-63284D73827B}"/>
              </a:ext>
            </a:extLst>
          </p:cNvPr>
          <p:cNvSpPr>
            <a:spLocks noGrp="1"/>
          </p:cNvSpPr>
          <p:nvPr/>
        </p:nvSpPr>
        <p:spPr>
          <a:xfrm>
            <a:off x="876375" y="6230742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i="1" dirty="0">
                <a:solidFill>
                  <a:srgbClr val="5A6472"/>
                </a:solidFill>
                <a:latin typeface="Arial"/>
              </a:rPr>
              <a:t>Representative visuals only; no proprietary imagery or designs shown.</a:t>
            </a:r>
            <a:endParaRPr sz="825" b="0" i="1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266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1AD8-0F5D-C517-672A-FCA6BA7A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3280911-1C76-B059-D9FC-58CDB541DE9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80D2B2-7655-C5E6-8F61-CCD681CEADB1}"/>
              </a:ext>
            </a:extLst>
          </p:cNvPr>
          <p:cNvSpPr>
            <a:spLocks noGrp="1"/>
          </p:cNvSpPr>
          <p:nvPr/>
        </p:nvSpPr>
        <p:spPr>
          <a:xfrm>
            <a:off x="400049" y="428624"/>
            <a:ext cx="3083379" cy="2571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BAE SYSTEMS — ELECTRONICS PACKAGING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B339A-A377-3FE4-B3DA-A580E757F271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31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PCB Packaging</a:t>
            </a:r>
            <a:endParaRPr sz="3150" b="1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E9C56-0777-CF7D-1F24-B01C88CE20AA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11130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2B91AD-C17E-9B80-EC93-87D250A88E43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Package a PCB, considering environmental effects and mechanical constraint tradeoffs</a:t>
            </a:r>
            <a:endParaRPr sz="1350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0CB26FA-7230-56C2-70BE-DBFC044B6C1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780E4DD-5D4C-EBFF-76BA-21BEEEFBF70D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EFFFE1-773C-F399-9124-2E4D38183BC6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5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3D7A9E-360A-2DD9-2AAE-B6AFB2D46179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2AB7BF-7015-88BE-E394-FA7ED29F3FD3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45E9CD-A6D8-3BCB-9D53-86684B28F91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648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Analyzed</a:t>
            </a: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tolerance stack-ups across seven top-cooled SMT component interfaces.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678D8C-28B0-70F5-C483-52186094519C}"/>
              </a:ext>
            </a:extLst>
          </p:cNvPr>
          <p:cNvSpPr>
            <a:spLocks noGrp="1"/>
          </p:cNvSpPr>
          <p:nvPr/>
        </p:nvSpPr>
        <p:spPr>
          <a:xfrm>
            <a:off x="400050" y="29908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10EE6-3248-3CCF-1FB0-503D921879B5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9F7A8-3DFE-2551-83C3-8B8F36CCAE3C}"/>
              </a:ext>
            </a:extLst>
          </p:cNvPr>
          <p:cNvSpPr>
            <a:spLocks noGrp="1"/>
          </p:cNvSpPr>
          <p:nvPr/>
        </p:nvSpPr>
        <p:spPr>
          <a:xfrm>
            <a:off x="609599" y="3600449"/>
            <a:ext cx="5915025" cy="412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Defined 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thermal interface material</a:t>
            </a: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selection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for effective cooling </a:t>
            </a:r>
            <a:r>
              <a:rPr lang="en-US" sz="135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for SMT components (including an FPGA chip) </a:t>
            </a:r>
            <a:endParaRPr lang="en-US" sz="1350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03C0F0-9BB8-9558-3B53-7D49DACD43F2}"/>
              </a:ext>
            </a:extLst>
          </p:cNvPr>
          <p:cNvSpPr>
            <a:spLocks noGrp="1"/>
          </p:cNvSpPr>
          <p:nvPr/>
        </p:nvSpPr>
        <p:spPr>
          <a:xfrm>
            <a:off x="400050" y="5192482"/>
            <a:ext cx="66675" cy="838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7B5ABE-FF6C-DF36-1120-F54AC3E38BEE}"/>
              </a:ext>
            </a:extLst>
          </p:cNvPr>
          <p:cNvSpPr>
            <a:spLocks noGrp="1"/>
          </p:cNvSpPr>
          <p:nvPr/>
        </p:nvSpPr>
        <p:spPr>
          <a:xfrm>
            <a:off x="609600" y="5221057"/>
            <a:ext cx="464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0D52C4-51B4-F01E-F584-90CE4E11FF93}"/>
              </a:ext>
            </a:extLst>
          </p:cNvPr>
          <p:cNvSpPr>
            <a:spLocks noGrp="1"/>
          </p:cNvSpPr>
          <p:nvPr/>
        </p:nvSpPr>
        <p:spPr>
          <a:xfrm>
            <a:off x="609600" y="5430607"/>
            <a:ext cx="4648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mechanical enclosure that allowed for PCB to be protected while working as intended.</a:t>
            </a:r>
            <a:endParaRPr sz="1650" b="1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0FA732-38DC-BB89-DCFD-35ED7818EE9D}"/>
              </a:ext>
            </a:extLst>
          </p:cNvPr>
          <p:cNvSpPr txBox="1"/>
          <p:nvPr/>
        </p:nvSpPr>
        <p:spPr>
          <a:xfrm>
            <a:off x="609600" y="4285141"/>
            <a:ext cx="5638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Defined 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EMI-gasket compression ranges that remained manufacturable across tolerances.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5F4DD9-6E3A-09E0-8CDB-799A9ECB2217}"/>
              </a:ext>
            </a:extLst>
          </p:cNvPr>
          <p:cNvSpPr>
            <a:spLocks noGrp="1"/>
          </p:cNvSpPr>
          <p:nvPr/>
        </p:nvSpPr>
        <p:spPr>
          <a:xfrm>
            <a:off x="410935" y="4308028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D4A48C-1D5F-5330-4ECF-DFA42E63BF14}"/>
              </a:ext>
            </a:extLst>
          </p:cNvPr>
          <p:cNvSpPr txBox="1"/>
          <p:nvPr/>
        </p:nvSpPr>
        <p:spPr>
          <a:xfrm>
            <a:off x="609601" y="2967972"/>
            <a:ext cx="54863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Defined 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material finishes to prevent galvanic corrosion and other unwanted interactions (ENIG, Nickel, </a:t>
            </a:r>
            <a:r>
              <a:rPr lang="en-US" sz="1350" b="0" i="0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Chemfilm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, etc.)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9F7224B-8EF2-CDB4-B64A-D560204E5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292045"/>
            <a:ext cx="4690514" cy="250522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E5A8628-58D3-198E-4FC9-0C78310829AF}"/>
              </a:ext>
            </a:extLst>
          </p:cNvPr>
          <p:cNvSpPr>
            <a:spLocks noGrp="1"/>
          </p:cNvSpPr>
          <p:nvPr/>
        </p:nvSpPr>
        <p:spPr>
          <a:xfrm>
            <a:off x="6524625" y="4967411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1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i="1" dirty="0">
                <a:solidFill>
                  <a:srgbClr val="5A6472"/>
                </a:solidFill>
                <a:latin typeface="Arial"/>
              </a:rPr>
              <a:t>Representative visuals only; no proprietary imagery or designs shown.</a:t>
            </a:r>
            <a:endParaRPr sz="825" b="0" i="1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778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EC56154-087D-40F4-B3B6-EBAA92B6387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1AC959-FAEC-4DC5-8B99-839C2C037B95}"/>
              </a:ext>
            </a:extLst>
          </p:cNvPr>
          <p:cNvSpPr>
            <a:spLocks noGrp="1"/>
          </p:cNvSpPr>
          <p:nvPr/>
        </p:nvSpPr>
        <p:spPr>
          <a:xfrm>
            <a:off x="400050" y="428624"/>
            <a:ext cx="2713264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DRONE — PROPELLER AERODYNAMICS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D1739F-AD5B-4594-BE40-538193896AAF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Predicted 7.4 N from a custom 5-inch propeller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1E69D-56EC-4632-8537-CFA1E877BDA1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E8E7A-8F89-4C35-B109-00D158356B0B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Design a three-blade SLS PA12 propeller that supports a 2:1 vehicle thrust-to-weight target.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6B388E7-B814-473A-B7FD-C1B977DD7F42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3FD56C8-FC40-4BCF-8F38-851FE1BE308D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94C586-DCCA-45A0-A83A-72EA81E0ECEE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6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3FE83E-8349-4E90-BD95-5948FEDD594B}"/>
              </a:ext>
            </a:extLst>
          </p:cNvPr>
          <p:cNvSpPr>
            <a:spLocks noGrp="1"/>
          </p:cNvSpPr>
          <p:nvPr/>
        </p:nvSpPr>
        <p:spPr>
          <a:xfrm>
            <a:off x="400050" y="2085975"/>
            <a:ext cx="209550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C4100C-2AF3-4376-89C7-39EC898C7BC2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7.4 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CD4E58-E459-4DD0-A1E9-7A51F078CE72}"/>
              </a:ext>
            </a:extLst>
          </p:cNvPr>
          <p:cNvSpPr>
            <a:spLocks noGrp="1"/>
          </p:cNvSpPr>
          <p:nvPr/>
        </p:nvSpPr>
        <p:spPr>
          <a:xfrm>
            <a:off x="571500" y="2692853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predicted thrust at 21,000 RPM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7F189D-3798-40A2-9080-3B6E8DBB0953}"/>
              </a:ext>
            </a:extLst>
          </p:cNvPr>
          <p:cNvSpPr>
            <a:spLocks noGrp="1"/>
          </p:cNvSpPr>
          <p:nvPr/>
        </p:nvSpPr>
        <p:spPr>
          <a:xfrm>
            <a:off x="2647950" y="2085975"/>
            <a:ext cx="247650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F6DAE7-91A4-40E8-8A8E-C1EC66AF5C10}"/>
              </a:ext>
            </a:extLst>
          </p:cNvPr>
          <p:cNvSpPr>
            <a:spLocks noGrp="1"/>
          </p:cNvSpPr>
          <p:nvPr/>
        </p:nvSpPr>
        <p:spPr>
          <a:xfrm>
            <a:off x="2819400" y="2238375"/>
            <a:ext cx="2133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B1FB7-0187-4DCC-9634-C03F658E71F9}"/>
              </a:ext>
            </a:extLst>
          </p:cNvPr>
          <p:cNvSpPr>
            <a:spLocks noGrp="1"/>
          </p:cNvSpPr>
          <p:nvPr/>
        </p:nvSpPr>
        <p:spPr>
          <a:xfrm>
            <a:off x="2819400" y="2681967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blades using NACA 8424 / 4415 / 3412 sections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76E69E-7D0A-46BC-9193-55A044D1F0E0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METHOD &amp; FINDINGS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ACB358-A3AE-474F-91C0-CDF48F7028B2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F6BE4-4E9F-4780-A01D-72D56855C8E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Built a Python BEMT solver with induced-velocity iteration and Prandtl tip-loss correction.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C0CCC0-CBDE-485B-BDA4-FA0452230159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00120A-1364-4C01-9E9D-CE44E347B364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 a blade-element convergence study and checked torque, power, and current against motor/ESC capability.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9EF9B0-239A-4CB8-9AC4-97447554FB59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5DA8FD-AB39-4D95-83D1-417795BBB13D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Compared the predicted operating point with manufacturer propeller data as a feasibility check.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rcRect t="8979" b="8979"/>
          <a:stretch>
            <a:fillRect/>
          </a:stretch>
        </p:blipFill>
        <p:spPr>
          <a:xfrm>
            <a:off x="5890083" y="1981199"/>
            <a:ext cx="2457450" cy="1930854"/>
          </a:xfrm>
          <a:prstGeom prst="roundRect">
            <a:avLst>
              <a:gd name="adj" fmla="val 3182"/>
            </a:avLst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90433" y="1990726"/>
            <a:ext cx="2904747" cy="1971674"/>
          </a:xfrm>
          <a:prstGeom prst="roundRect">
            <a:avLst>
              <a:gd name="adj" fmla="val 3182"/>
            </a:avLst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21099" y="4030903"/>
            <a:ext cx="3003680" cy="1971673"/>
          </a:xfrm>
          <a:prstGeom prst="roundRect">
            <a:avLst>
              <a:gd name="adj" fmla="val 4667"/>
            </a:avLst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070743F-2A0C-4D13-9832-309059503620}"/>
              </a:ext>
            </a:extLst>
          </p:cNvPr>
          <p:cNvSpPr>
            <a:spLocks noGrp="1"/>
          </p:cNvSpPr>
          <p:nvPr/>
        </p:nvSpPr>
        <p:spPr>
          <a:xfrm>
            <a:off x="5562600" y="5867403"/>
            <a:ext cx="66675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1F418A-D2A5-432B-B0BA-FEAA9038169F}"/>
              </a:ext>
            </a:extLst>
          </p:cNvPr>
          <p:cNvSpPr>
            <a:spLocks noGrp="1"/>
          </p:cNvSpPr>
          <p:nvPr/>
        </p:nvSpPr>
        <p:spPr>
          <a:xfrm>
            <a:off x="5772150" y="5895978"/>
            <a:ext cx="5695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15CCAC-AE55-4C01-AD38-7F839373CA34}"/>
              </a:ext>
            </a:extLst>
          </p:cNvPr>
          <p:cNvSpPr>
            <a:spLocks noGrp="1"/>
          </p:cNvSpPr>
          <p:nvPr/>
        </p:nvSpPr>
        <p:spPr>
          <a:xfrm>
            <a:off x="5772150" y="6105528"/>
            <a:ext cx="569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Set a defensible thrust-test operating point.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1925A6-C48C-31B3-F981-4663A1384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600" y="3971152"/>
            <a:ext cx="2917371" cy="188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8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F73BA7-136C-41A2-AA67-449E807D6E41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365BE9-4F74-47FB-AD83-A67175A700DE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DRONE — STRUCTURAL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BA4CB1-8D00-4139-B8C0-EAA716B07161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Screened a thrust stand against static and modal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FEC55-F547-487A-9671-4C46D604DCEA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B0D7-8F44-4CE5-A44C-E41A45BA126A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Design a load-cell fixture that measures ~7.4 N without structural compliance or resonance corrupting the result.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076BFD7-A902-4549-BA2F-A50A1A4E020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85B1FE5-66D0-4810-9B69-4E1C95499978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D97FA-5871-480A-9011-5B512356D6D4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07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B3F4FB-60D9-41A5-971E-0B1727D51839}"/>
              </a:ext>
            </a:extLst>
          </p:cNvPr>
          <p:cNvSpPr>
            <a:spLocks noGrp="1"/>
          </p:cNvSpPr>
          <p:nvPr/>
        </p:nvSpPr>
        <p:spPr>
          <a:xfrm>
            <a:off x="400050" y="20288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MODEL FIDELITY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B66502-5892-4000-93B8-6199A474B470}"/>
              </a:ext>
            </a:extLst>
          </p:cNvPr>
          <p:cNvSpPr>
            <a:spLocks noGrp="1"/>
          </p:cNvSpPr>
          <p:nvPr/>
        </p:nvSpPr>
        <p:spPr>
          <a:xfrm>
            <a:off x="400050" y="2352675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CB76C6-5BA9-49D0-AABF-177A23D72533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Modeled bolt pretension, frictional contacts, clamps, gravity, and propeller force in Ansys.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CDBD24-92BC-4E26-8D36-F7BF31ACCB40}"/>
              </a:ext>
            </a:extLst>
          </p:cNvPr>
          <p:cNvSpPr>
            <a:spLocks noGrp="1"/>
          </p:cNvSpPr>
          <p:nvPr/>
        </p:nvSpPr>
        <p:spPr>
          <a:xfrm>
            <a:off x="400050" y="2924175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93E579-9142-4088-9EA3-D210A719613A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Verified static response using mesh-quality checks and deformation convergence.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19CC24-0C66-497B-840F-C6664A3B0DAF}"/>
              </a:ext>
            </a:extLst>
          </p:cNvPr>
          <p:cNvSpPr>
            <a:spLocks noGrp="1"/>
          </p:cNvSpPr>
          <p:nvPr/>
        </p:nvSpPr>
        <p:spPr>
          <a:xfrm>
            <a:off x="400050" y="3495675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F481F4-156D-424F-A6C6-4649FD08CCF3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Used free-free, mesh-refinement, and preload-sensitivity checks to validate modal behavior.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C51FAE-5B20-45BD-9E81-7B2367F191AA}"/>
              </a:ext>
            </a:extLst>
          </p:cNvPr>
          <p:cNvSpPr>
            <a:spLocks noGrp="1"/>
          </p:cNvSpPr>
          <p:nvPr/>
        </p:nvSpPr>
        <p:spPr>
          <a:xfrm>
            <a:off x="1333500" y="4940071"/>
            <a:ext cx="2247900" cy="1219200"/>
          </a:xfrm>
          <a:prstGeom prst="roundRect">
            <a:avLst>
              <a:gd name="adj" fmla="val 7813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C899F2-068C-4171-824D-58086B960B27}"/>
              </a:ext>
            </a:extLst>
          </p:cNvPr>
          <p:cNvSpPr>
            <a:spLocks noGrp="1"/>
          </p:cNvSpPr>
          <p:nvPr/>
        </p:nvSpPr>
        <p:spPr>
          <a:xfrm>
            <a:off x="1504950" y="5092471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lang="en-US" sz="2550" b="1" i="0" dirty="0">
                <a:solidFill>
                  <a:srgbClr val="2E8B57"/>
                </a:solidFill>
                <a:latin typeface="Arial"/>
                <a:ea typeface="Arial"/>
                <a:cs typeface="Arial"/>
              </a:rPr>
              <a:t>&gt;7.4 N</a:t>
            </a:r>
            <a:endParaRPr sz="2550" b="1" i="0" dirty="0">
              <a:solidFill>
                <a:srgbClr val="2E8B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71B9F5-C23F-4A4B-9BCF-640E1E534C42}"/>
              </a:ext>
            </a:extLst>
          </p:cNvPr>
          <p:cNvSpPr>
            <a:spLocks noGrp="1"/>
          </p:cNvSpPr>
          <p:nvPr/>
        </p:nvSpPr>
        <p:spPr>
          <a:xfrm>
            <a:off x="1504950" y="5525177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of t</a:t>
            </a:r>
            <a:r>
              <a:rPr lang="en-US" sz="1125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hrust generated through propeller physical testing, validatin</a:t>
            </a:r>
            <a:r>
              <a:rPr lang="en-US" sz="1125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g design</a:t>
            </a:r>
            <a:endParaRPr sz="1125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rcRect l="1558" r="1558"/>
          <a:stretch>
            <a:fillRect/>
          </a:stretch>
        </p:blipFill>
        <p:spPr>
          <a:xfrm>
            <a:off x="5605462" y="2021445"/>
            <a:ext cx="3000375" cy="1952625"/>
          </a:xfrm>
          <a:prstGeom prst="roundRect">
            <a:avLst>
              <a:gd name="adj" fmla="val 2927"/>
            </a:avLst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0443" y="4171950"/>
            <a:ext cx="2723740" cy="1562100"/>
          </a:xfrm>
          <a:prstGeom prst="roundRect">
            <a:avLst>
              <a:gd name="adj" fmla="val 3659"/>
            </a:avLst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82050" y="4481041"/>
            <a:ext cx="3009900" cy="943917"/>
          </a:xfrm>
          <a:prstGeom prst="roundRect">
            <a:avLst>
              <a:gd name="adj" fmla="val 3659"/>
            </a:avLst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6B61527-93A7-4F93-8485-814F14283EA7}"/>
              </a:ext>
            </a:extLst>
          </p:cNvPr>
          <p:cNvSpPr>
            <a:spLocks noGrp="1"/>
          </p:cNvSpPr>
          <p:nvPr/>
        </p:nvSpPr>
        <p:spPr>
          <a:xfrm>
            <a:off x="5572125" y="5715000"/>
            <a:ext cx="66675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09F88A-9943-4136-8334-E07213357371}"/>
              </a:ext>
            </a:extLst>
          </p:cNvPr>
          <p:cNvSpPr>
            <a:spLocks noGrp="1"/>
          </p:cNvSpPr>
          <p:nvPr/>
        </p:nvSpPr>
        <p:spPr>
          <a:xfrm>
            <a:off x="5781675" y="5743575"/>
            <a:ext cx="5695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BEF05B-330E-48B4-81DB-65177294743B}"/>
              </a:ext>
            </a:extLst>
          </p:cNvPr>
          <p:cNvSpPr>
            <a:spLocks noGrp="1"/>
          </p:cNvSpPr>
          <p:nvPr/>
        </p:nvSpPr>
        <p:spPr>
          <a:xfrm>
            <a:off x="5781675" y="5953125"/>
            <a:ext cx="569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Physically validated propeller thrust</a:t>
            </a:r>
            <a:endParaRPr sz="1350" b="1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EBCEAB-9E2E-D1CF-7CA2-AAEF21F181E4}"/>
              </a:ext>
            </a:extLst>
          </p:cNvPr>
          <p:cNvSpPr>
            <a:spLocks noGrp="1"/>
          </p:cNvSpPr>
          <p:nvPr/>
        </p:nvSpPr>
        <p:spPr>
          <a:xfrm>
            <a:off x="421820" y="4050842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2EC399-4D08-D4A3-DB90-7B0382853549}"/>
              </a:ext>
            </a:extLst>
          </p:cNvPr>
          <p:cNvSpPr>
            <a:spLocks noGrp="1"/>
          </p:cNvSpPr>
          <p:nvPr/>
        </p:nvSpPr>
        <p:spPr>
          <a:xfrm>
            <a:off x="631370" y="4050842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Built physical thrust stand to validate previously predicted propeller thrust</a:t>
            </a:r>
            <a:endParaRPr sz="1275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40F578-40A5-6EDC-5559-5AAE79E16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3712" y="1990644"/>
            <a:ext cx="2206576" cy="207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2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125D756-49C4-4CBA-BC75-F69FEFDF5EB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8E5162-B32A-4EFC-947C-7A54C9A0039A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DRONE — INTEGRATED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ABE8A-C417-4B28-B443-3F2B34808B3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Integrated structure, compute, and vision on one drone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01435-DF3E-46D8-A9CC-C5D75ECEBE6E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E28ED-40C5-444B-B911-9679D11C8DD7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Develop a consumer-oriented quadrotor platform with protected electronics, custom compute I/O, and onboard perception.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CA2232E-BAC8-45E9-8DF0-E30930A0ECA0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D5B2AAA-0B09-4002-8F8E-8177230CAD7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7A8E17-62D6-4AFB-9028-0A042EEE869B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08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D79D398-855A-47DD-B6FD-8B6C73F94139}"/>
              </a:ext>
            </a:extLst>
          </p:cNvPr>
          <p:cNvSpPr>
            <a:spLocks noGrp="1"/>
          </p:cNvSpPr>
          <p:nvPr/>
        </p:nvSpPr>
        <p:spPr>
          <a:xfrm>
            <a:off x="6915150" y="2378528"/>
            <a:ext cx="447675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0C5C89-9F54-4E10-AE20-75E04217AA00}"/>
              </a:ext>
            </a:extLst>
          </p:cNvPr>
          <p:cNvSpPr>
            <a:spLocks noGrp="1"/>
          </p:cNvSpPr>
          <p:nvPr/>
        </p:nvSpPr>
        <p:spPr>
          <a:xfrm>
            <a:off x="6915150" y="2569028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COMPUTE + I/O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A0B055-94AA-47E3-9DED-CDE8E10026E9}"/>
              </a:ext>
            </a:extLst>
          </p:cNvPr>
          <p:cNvSpPr>
            <a:spLocks noGrp="1"/>
          </p:cNvSpPr>
          <p:nvPr/>
        </p:nvSpPr>
        <p:spPr>
          <a:xfrm>
            <a:off x="6915150" y="2864303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KiCad carrier PCB for Raspberry Pi CM4 power, camera, and I/O interfaces.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45ECEBC-B72A-47F0-AD48-A5B974B711DF}"/>
              </a:ext>
            </a:extLst>
          </p:cNvPr>
          <p:cNvSpPr>
            <a:spLocks noGrp="1"/>
          </p:cNvSpPr>
          <p:nvPr/>
        </p:nvSpPr>
        <p:spPr>
          <a:xfrm>
            <a:off x="6915150" y="3578678"/>
            <a:ext cx="447675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911B1-2505-4BAA-AEFB-E9A9C551343F}"/>
              </a:ext>
            </a:extLst>
          </p:cNvPr>
          <p:cNvSpPr>
            <a:spLocks noGrp="1"/>
          </p:cNvSpPr>
          <p:nvPr/>
        </p:nvSpPr>
        <p:spPr>
          <a:xfrm>
            <a:off x="6915150" y="3769178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88DE6E-3720-46CA-99EA-EB4EB8C63D07}"/>
              </a:ext>
            </a:extLst>
          </p:cNvPr>
          <p:cNvSpPr>
            <a:spLocks noGrp="1"/>
          </p:cNvSpPr>
          <p:nvPr/>
        </p:nvSpPr>
        <p:spPr>
          <a:xfrm>
            <a:off x="6915150" y="4064453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Trained YOLOv8n for low-resolution Raspberry Pi inputs; achieved mAP50 = 0.289.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0AA1FC-7BAA-4E07-9F3D-F8C5FD04CF2C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66675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25A7C-104F-4CFE-BF64-BB5823763B48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782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3214A0-B8E0-4951-BED4-71296F65E8F7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78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Connected airframe design, electronics integration, and edge perception into one extensible platform.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AC2B1D-BD83-EBC4-A19A-FD980D73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887652"/>
            <a:ext cx="3824969" cy="305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F6C40C7-2205-4E0E-8C66-4435425D814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5FBDCD-0CB0-44AB-86FE-C5DC99315960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ROBOTICS — MECHANISM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043CF9-289A-4FEF-A24D-A75589D4BFCF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Balanced speed, strength, and braking in one robot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F34EC-C825-438A-8787-7C818995DE56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5933B-E44A-415B-A1E3-A0C452767F4B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Build a miniature vehicle that could shift its performance envelope while surviving impacts and stopping predictably.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B6414C5-42AC-4ED1-9601-918CA51F7D8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921D537-CFE3-4AB5-A290-134ECF0DAF7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C121D-FCBE-457C-8EE6-CFEF40190B1E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09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F8244F-C757-4B9D-B5BA-B99E8A8115F5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ENGINEERING 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B8692-3A0F-47CD-A87F-8F20A8C4B05B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17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D5D47-0759-4479-8A76-EF125B8AC673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648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shifting drivetrain to trade speed against 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traction </a:t>
            </a: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and agility.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2B944-8F5F-447E-A06E-ACE9FFEFA20E}"/>
              </a:ext>
            </a:extLst>
          </p:cNvPr>
          <p:cNvSpPr>
            <a:spLocks noGrp="1"/>
          </p:cNvSpPr>
          <p:nvPr/>
        </p:nvSpPr>
        <p:spPr>
          <a:xfrm>
            <a:off x="400050" y="3009900"/>
            <a:ext cx="17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E551BE-5DDB-4CF2-AB78-058A8D9EF61F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4648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Added spring elements to absorb frame impacts; checked the load path by hand calculations and FEA.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A66FF9-C64F-49CC-AC9B-898B8489F693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7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F6B6A0-2FE4-4AE1-AADF-B12076144109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648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Prototyped a fully 3D-printed, servo-actuated drum brake and verified its operation through analysis and testing.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9937F6-4E18-4FD5-A701-C4D2A7F6671C}"/>
              </a:ext>
            </a:extLst>
          </p:cNvPr>
          <p:cNvSpPr>
            <a:spLocks noGrp="1"/>
          </p:cNvSpPr>
          <p:nvPr/>
        </p:nvSpPr>
        <p:spPr>
          <a:xfrm>
            <a:off x="619125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AD16A5-9A37-430B-9117-E30CC8F89AB1}"/>
              </a:ext>
            </a:extLst>
          </p:cNvPr>
          <p:cNvSpPr>
            <a:spLocks noGrp="1"/>
          </p:cNvSpPr>
          <p:nvPr/>
        </p:nvSpPr>
        <p:spPr>
          <a:xfrm>
            <a:off x="6191250" y="2466975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E9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23C281-B37A-4F72-BA76-F8FDA72AF17C}"/>
              </a:ext>
            </a:extLst>
          </p:cNvPr>
          <p:cNvSpPr>
            <a:spLocks noGrp="1"/>
          </p:cNvSpPr>
          <p:nvPr/>
        </p:nvSpPr>
        <p:spPr>
          <a:xfrm>
            <a:off x="6477000" y="263842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SHIFTING DRIVETRAIN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233DF-9EC4-441C-A6EB-EE6295E60082}"/>
              </a:ext>
            </a:extLst>
          </p:cNvPr>
          <p:cNvSpPr>
            <a:spLocks noGrp="1"/>
          </p:cNvSpPr>
          <p:nvPr/>
        </p:nvSpPr>
        <p:spPr>
          <a:xfrm>
            <a:off x="6477000" y="2924175"/>
            <a:ext cx="419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speed  ↔  strength  ↔  agility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C8324D-6FFF-4E93-8403-5A7AF5351DCB}"/>
              </a:ext>
            </a:extLst>
          </p:cNvPr>
          <p:cNvSpPr>
            <a:spLocks noGrp="1"/>
          </p:cNvSpPr>
          <p:nvPr/>
        </p:nvSpPr>
        <p:spPr>
          <a:xfrm>
            <a:off x="8191500" y="327932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BDE77B-474C-4D56-B561-EE4824D3F029}"/>
              </a:ext>
            </a:extLst>
          </p:cNvPr>
          <p:cNvSpPr>
            <a:spLocks noGrp="1"/>
          </p:cNvSpPr>
          <p:nvPr/>
        </p:nvSpPr>
        <p:spPr>
          <a:xfrm>
            <a:off x="6191250" y="3705225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7FA9B1-DF25-4F6C-BFE5-C147058A676B}"/>
              </a:ext>
            </a:extLst>
          </p:cNvPr>
          <p:cNvSpPr>
            <a:spLocks noGrp="1"/>
          </p:cNvSpPr>
          <p:nvPr/>
        </p:nvSpPr>
        <p:spPr>
          <a:xfrm>
            <a:off x="6477000" y="389572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SPRING-SUPPORTED FRAME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2880D5-E711-47F3-A5F6-B280DFF10406}"/>
              </a:ext>
            </a:extLst>
          </p:cNvPr>
          <p:cNvSpPr>
            <a:spLocks noGrp="1"/>
          </p:cNvSpPr>
          <p:nvPr/>
        </p:nvSpPr>
        <p:spPr>
          <a:xfrm>
            <a:off x="6477000" y="418147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impact energy routed through compliant members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8C8D0E-4502-43BA-9D56-D5ACD5FABCE1}"/>
              </a:ext>
            </a:extLst>
          </p:cNvPr>
          <p:cNvSpPr>
            <a:spLocks noGrp="1"/>
          </p:cNvSpPr>
          <p:nvPr/>
        </p:nvSpPr>
        <p:spPr>
          <a:xfrm>
            <a:off x="8191500" y="4528456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995820E-0A9A-426F-9615-C144808DB2C6}"/>
              </a:ext>
            </a:extLst>
          </p:cNvPr>
          <p:cNvSpPr>
            <a:spLocks noGrp="1"/>
          </p:cNvSpPr>
          <p:nvPr/>
        </p:nvSpPr>
        <p:spPr>
          <a:xfrm>
            <a:off x="6191250" y="4943475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EDF7F1"/>
          </a:solidFill>
          <a:ln w="95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EDA49B-A0AA-4AFE-9042-774B0C85BDAB}"/>
              </a:ext>
            </a:extLst>
          </p:cNvPr>
          <p:cNvSpPr>
            <a:spLocks noGrp="1"/>
          </p:cNvSpPr>
          <p:nvPr/>
        </p:nvSpPr>
        <p:spPr>
          <a:xfrm>
            <a:off x="6477000" y="513397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SERVO DRUM BRAKE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D6139C-0D94-4994-80C4-3BC2C9AAD9DD}"/>
              </a:ext>
            </a:extLst>
          </p:cNvPr>
          <p:cNvSpPr>
            <a:spLocks noGrp="1"/>
          </p:cNvSpPr>
          <p:nvPr/>
        </p:nvSpPr>
        <p:spPr>
          <a:xfrm>
            <a:off x="6477000" y="541972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3D-printed prototype validated in test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85A464E-3597-0965-AFAD-056E6DB5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8" y="4193722"/>
            <a:ext cx="2120973" cy="208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9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3F2230D-3246-4204-9D63-430DA5499538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94EFC-0A35-4D61-9A18-6130E0A0C1C4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EV CONCEPT — DRIVETRAIN LEAD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9099D-821E-4947-A3E8-246ADF17206E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Led a 16:1 drivetrain design for maximum efficiency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C6948-1F84-4512-BD39-47B7C9C0DDC5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77002-BC48-48D1-B2D5-82F18E1BEF0E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Align motor and wheel operating points for a lightweight Shell Eco-marathon concept vehicle.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CEC8474-59BC-415A-974E-C2F25D7748EB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FEAD0E2-A571-46FE-9EFD-5EE3D449DCC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D70D2-A6EE-4355-8F14-08FA8ACA042A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B6052-84F0-471F-AA06-2310DEF571F8}"/>
              </a:ext>
            </a:extLst>
          </p:cNvPr>
          <p:cNvSpPr>
            <a:spLocks noGrp="1"/>
          </p:cNvSpPr>
          <p:nvPr/>
        </p:nvSpPr>
        <p:spPr>
          <a:xfrm>
            <a:off x="400050" y="2009775"/>
            <a:ext cx="3476625" cy="2190750"/>
          </a:xfrm>
          <a:prstGeom prst="roundRect">
            <a:avLst>
              <a:gd name="adj" fmla="val 3043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rcRect t="18493" b="18493"/>
          <a:stretch>
            <a:fillRect/>
          </a:stretch>
        </p:blipFill>
        <p:spPr>
          <a:xfrm>
            <a:off x="400050" y="2009775"/>
            <a:ext cx="3476625" cy="2190750"/>
          </a:xfrm>
          <a:prstGeom prst="roundRect">
            <a:avLst>
              <a:gd name="adj" fmla="val 3043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14209D-834C-40B9-94BA-5A4C011872D3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1666875" cy="1619250"/>
          </a:xfrm>
          <a:prstGeom prst="roundRect">
            <a:avLst>
              <a:gd name="adj" fmla="val 411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rcRect t="1349" b="1349"/>
          <a:stretch>
            <a:fillRect/>
          </a:stretch>
        </p:blipFill>
        <p:spPr>
          <a:xfrm>
            <a:off x="400050" y="4381500"/>
            <a:ext cx="1666875" cy="1619250"/>
          </a:xfrm>
          <a:prstGeom prst="roundRect">
            <a:avLst>
              <a:gd name="adj" fmla="val 4118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E015E6-30C4-4111-87EF-FFF36C6808CF}"/>
              </a:ext>
            </a:extLst>
          </p:cNvPr>
          <p:cNvSpPr>
            <a:spLocks noGrp="1"/>
          </p:cNvSpPr>
          <p:nvPr/>
        </p:nvSpPr>
        <p:spPr>
          <a:xfrm>
            <a:off x="2238375" y="4381500"/>
            <a:ext cx="1638300" cy="1619250"/>
          </a:xfrm>
          <a:prstGeom prst="roundRect">
            <a:avLst>
              <a:gd name="adj" fmla="val 411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/>
          <a:srcRect t="581" b="581"/>
          <a:stretch>
            <a:fillRect/>
          </a:stretch>
        </p:blipFill>
        <p:spPr>
          <a:xfrm>
            <a:off x="2238375" y="4381500"/>
            <a:ext cx="1638300" cy="1619250"/>
          </a:xfrm>
          <a:prstGeom prst="roundRect">
            <a:avLst>
              <a:gd name="adj" fmla="val 4118"/>
            </a:avLst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A35D27-F157-4F45-ACB0-2D78A199BF69}"/>
              </a:ext>
            </a:extLst>
          </p:cNvPr>
          <p:cNvSpPr>
            <a:spLocks noGrp="1"/>
          </p:cNvSpPr>
          <p:nvPr/>
        </p:nvSpPr>
        <p:spPr>
          <a:xfrm>
            <a:off x="4333875" y="2028825"/>
            <a:ext cx="2095500" cy="1095375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E91F56-83F9-4812-8C86-2949E73174F6}"/>
              </a:ext>
            </a:extLst>
          </p:cNvPr>
          <p:cNvSpPr>
            <a:spLocks noGrp="1"/>
          </p:cNvSpPr>
          <p:nvPr/>
        </p:nvSpPr>
        <p:spPr>
          <a:xfrm>
            <a:off x="4505325" y="21812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16:1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886EF5-F6BD-42AA-B61E-B740BE2B3944}"/>
              </a:ext>
            </a:extLst>
          </p:cNvPr>
          <p:cNvSpPr>
            <a:spLocks noGrp="1"/>
          </p:cNvSpPr>
          <p:nvPr/>
        </p:nvSpPr>
        <p:spPr>
          <a:xfrm>
            <a:off x="4505325" y="26574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chain-and-sprocket reduction target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D7B826-14A4-449D-9DF8-43ABBBEC1FC0}"/>
              </a:ext>
            </a:extLst>
          </p:cNvPr>
          <p:cNvSpPr>
            <a:spLocks noGrp="1"/>
          </p:cNvSpPr>
          <p:nvPr/>
        </p:nvSpPr>
        <p:spPr>
          <a:xfrm>
            <a:off x="6591300" y="2028825"/>
            <a:ext cx="2095500" cy="1095375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ED1CEB-3C52-4C4F-A4A0-F2B989DEDD06}"/>
              </a:ext>
            </a:extLst>
          </p:cNvPr>
          <p:cNvSpPr>
            <a:spLocks noGrp="1"/>
          </p:cNvSpPr>
          <p:nvPr/>
        </p:nvSpPr>
        <p:spPr>
          <a:xfrm>
            <a:off x="6762750" y="21812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CFFFF-F3B8-49D4-B974-A914B32B2034}"/>
              </a:ext>
            </a:extLst>
          </p:cNvPr>
          <p:cNvSpPr>
            <a:spLocks noGrp="1"/>
          </p:cNvSpPr>
          <p:nvPr/>
        </p:nvSpPr>
        <p:spPr>
          <a:xfrm>
            <a:off x="6762750" y="26574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team members directed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BE279E-5FA5-4BA5-AEF9-09F9DADEF133}"/>
              </a:ext>
            </a:extLst>
          </p:cNvPr>
          <p:cNvSpPr>
            <a:spLocks noGrp="1"/>
          </p:cNvSpPr>
          <p:nvPr/>
        </p:nvSpPr>
        <p:spPr>
          <a:xfrm>
            <a:off x="4333875" y="34956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TECHNICAL OWNERSHIP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3DA842-1047-4CC1-852B-F1E6FE207F08}"/>
              </a:ext>
            </a:extLst>
          </p:cNvPr>
          <p:cNvSpPr>
            <a:spLocks noGrp="1"/>
          </p:cNvSpPr>
          <p:nvPr/>
        </p:nvSpPr>
        <p:spPr>
          <a:xfrm>
            <a:off x="4333875" y="3829050"/>
            <a:ext cx="171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83637E-4BAB-47F4-840C-335F83D11415}"/>
              </a:ext>
            </a:extLst>
          </p:cNvPr>
          <p:cNvSpPr>
            <a:spLocks noGrp="1"/>
          </p:cNvSpPr>
          <p:nvPr/>
        </p:nvSpPr>
        <p:spPr>
          <a:xfrm>
            <a:off x="4543425" y="3829050"/>
            <a:ext cx="6648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Selected drivetrain architecture and sprocket sizing to place the motor near its efficient RPM range.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0CB44E-DDEE-4817-A52F-DE1168121D44}"/>
              </a:ext>
            </a:extLst>
          </p:cNvPr>
          <p:cNvSpPr>
            <a:spLocks noGrp="1"/>
          </p:cNvSpPr>
          <p:nvPr/>
        </p:nvSpPr>
        <p:spPr>
          <a:xfrm>
            <a:off x="4333875" y="4429125"/>
            <a:ext cx="171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CBF998-42D1-4B69-B6D0-0817ACCEBF56}"/>
              </a:ext>
            </a:extLst>
          </p:cNvPr>
          <p:cNvSpPr>
            <a:spLocks noGrp="1"/>
          </p:cNvSpPr>
          <p:nvPr/>
        </p:nvSpPr>
        <p:spPr>
          <a:xfrm>
            <a:off x="4543425" y="4429125"/>
            <a:ext cx="6648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an aluminum motor mount, assessed failure modes, and coordinated interfaces with the monocoque and electrical teams.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1F8F8A-7596-424E-B771-1C611780A219}"/>
              </a:ext>
            </a:extLst>
          </p:cNvPr>
          <p:cNvSpPr>
            <a:spLocks noGrp="1"/>
          </p:cNvSpPr>
          <p:nvPr/>
        </p:nvSpPr>
        <p:spPr>
          <a:xfrm>
            <a:off x="4333875" y="5029200"/>
            <a:ext cx="171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4DAF89-6E8C-4435-9E9D-94A9186D0779}"/>
              </a:ext>
            </a:extLst>
          </p:cNvPr>
          <p:cNvSpPr>
            <a:spLocks noGrp="1"/>
          </p:cNvSpPr>
          <p:nvPr/>
        </p:nvSpPr>
        <p:spPr>
          <a:xfrm>
            <a:off x="4543425" y="5029200"/>
            <a:ext cx="6648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Developed modular jig concepts to test power delivery before the complete vehicle was available.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B725AA-DD92-4037-B186-1A40AEEA14F6}"/>
              </a:ext>
            </a:extLst>
          </p:cNvPr>
          <p:cNvSpPr>
            <a:spLocks noGrp="1"/>
          </p:cNvSpPr>
          <p:nvPr/>
        </p:nvSpPr>
        <p:spPr>
          <a:xfrm>
            <a:off x="4333875" y="5600700"/>
            <a:ext cx="66675" cy="6286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5936E5-0784-4574-8948-44FF8AD86548}"/>
              </a:ext>
            </a:extLst>
          </p:cNvPr>
          <p:cNvSpPr>
            <a:spLocks noGrp="1"/>
          </p:cNvSpPr>
          <p:nvPr/>
        </p:nvSpPr>
        <p:spPr>
          <a:xfrm>
            <a:off x="4543425" y="5629275"/>
            <a:ext cx="664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F56002-9004-4E2C-BEAA-816A0176E65D}"/>
              </a:ext>
            </a:extLst>
          </p:cNvPr>
          <p:cNvSpPr>
            <a:spLocks noGrp="1"/>
          </p:cNvSpPr>
          <p:nvPr/>
        </p:nvSpPr>
        <p:spPr>
          <a:xfrm>
            <a:off x="4543425" y="5838825"/>
            <a:ext cx="664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Led the team from component selection toward a testable, manufacturable drivetrain.</a:t>
            </a:r>
          </a:p>
        </p:txBody>
      </p:sp>
    </p:spTree>
    <p:extLst>
      <p:ext uri="{BB962C8B-B14F-4D97-AF65-F5344CB8AC3E}">
        <p14:creationId xmlns:p14="http://schemas.microsoft.com/office/powerpoint/2010/main" val="85441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4443A29-7384-46BA-897A-16F0040E420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CBE58-EC71-4558-93BB-A5C1BCC44BE0}"/>
              </a:ext>
            </a:extLst>
          </p:cNvPr>
          <p:cNvSpPr>
            <a:spLocks noGrp="1"/>
          </p:cNvSpPr>
          <p:nvPr/>
        </p:nvSpPr>
        <p:spPr>
          <a:xfrm>
            <a:off x="323848" y="404132"/>
            <a:ext cx="3562350" cy="2571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ASME PRODUCT DEVELOPMENT — MEDICAL DEVICE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F16A4-C962-47F4-AB5E-70E6BEFC456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Mapped pressure in real time to flag injury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2A7FA-6715-4AAF-B99B-687EC97D748A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849AF-F96A-4A6C-A8C1-052DB2F4B995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Create a comfortable</a:t>
            </a:r>
            <a:r>
              <a:rPr lang="en-US" sz="135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topper that </a:t>
            </a:r>
            <a:r>
              <a:rPr lang="en-US"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reads and prevents pressure ulcers, reducing nursing workload and patient injuries</a:t>
            </a:r>
            <a:endParaRPr sz="1350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71A120A-54CB-4AD6-856C-0FE8F91EBB14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08E4CB3-BE6A-4C1A-BBC1-DB2301E33A97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B7694-7893-4096-9F94-62285BCF4780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F4EFB2-1ECE-4D7F-9C21-C6AC35C057DB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2857500" cy="2095500"/>
          </a:xfrm>
          <a:prstGeom prst="roundRect">
            <a:avLst>
              <a:gd name="adj" fmla="val 318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rcRect t="13268" b="13268"/>
          <a:stretch>
            <a:fillRect/>
          </a:stretch>
        </p:blipFill>
        <p:spPr>
          <a:xfrm>
            <a:off x="400050" y="2000250"/>
            <a:ext cx="2857500" cy="2095500"/>
          </a:xfrm>
          <a:prstGeom prst="roundRect">
            <a:avLst>
              <a:gd name="adj" fmla="val 3182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641CDC-3BCD-4E3A-9B56-300C5E761E25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3429000" cy="2095500"/>
          </a:xfrm>
          <a:prstGeom prst="roundRect">
            <a:avLst>
              <a:gd name="adj" fmla="val 318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rcRect t="19444" b="19444"/>
          <a:stretch>
            <a:fillRect/>
          </a:stretch>
        </p:blipFill>
        <p:spPr>
          <a:xfrm>
            <a:off x="3429000" y="2000250"/>
            <a:ext cx="3429000" cy="2095500"/>
          </a:xfrm>
          <a:prstGeom prst="roundRect">
            <a:avLst>
              <a:gd name="adj" fmla="val 3182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213C91-0CD5-4D17-AD5F-DB7BE5900B3F}"/>
              </a:ext>
            </a:extLst>
          </p:cNvPr>
          <p:cNvSpPr>
            <a:spLocks noGrp="1"/>
          </p:cNvSpPr>
          <p:nvPr/>
        </p:nvSpPr>
        <p:spPr>
          <a:xfrm>
            <a:off x="7029450" y="2000250"/>
            <a:ext cx="2381250" cy="2095500"/>
          </a:xfrm>
          <a:prstGeom prst="roundRect">
            <a:avLst>
              <a:gd name="adj" fmla="val 318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rcRect t="6054" b="6054"/>
          <a:stretch>
            <a:fillRect/>
          </a:stretch>
        </p:blipFill>
        <p:spPr>
          <a:xfrm>
            <a:off x="7029450" y="2000250"/>
            <a:ext cx="2381250" cy="2095500"/>
          </a:xfrm>
          <a:prstGeom prst="roundRect">
            <a:avLst>
              <a:gd name="adj" fmla="val 3182"/>
            </a:avLst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41A46E-015A-4E6A-9E1B-D8D500E4CFAF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809750" cy="2095500"/>
          </a:xfrm>
          <a:prstGeom prst="roundRect">
            <a:avLst>
              <a:gd name="adj" fmla="val 3684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6"/>
          <a:srcRect t="6708" b="6708"/>
          <a:stretch>
            <a:fillRect/>
          </a:stretch>
        </p:blipFill>
        <p:spPr>
          <a:xfrm>
            <a:off x="9582150" y="2000250"/>
            <a:ext cx="1809750" cy="2095500"/>
          </a:xfrm>
          <a:prstGeom prst="roundRect">
            <a:avLst>
              <a:gd name="adj" fmla="val 3684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9285B64-3C8A-4D0A-892C-0D476F1A97EF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14F6AF-5D8B-4FB9-A234-649F6935EFA5}"/>
              </a:ext>
            </a:extLst>
          </p:cNvPr>
          <p:cNvSpPr>
            <a:spLocks noGrp="1"/>
          </p:cNvSpPr>
          <p:nvPr/>
        </p:nvSpPr>
        <p:spPr>
          <a:xfrm>
            <a:off x="400050" y="477202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Pressure + temperature sensors embedded in medical-grade foam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with a hydraulic system to inflate pads for pressure relief</a:t>
            </a:r>
            <a:endParaRPr sz="1350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0832C2-C8DE-4EDA-8A15-00492E9CE2EE}"/>
              </a:ext>
            </a:extLst>
          </p:cNvPr>
          <p:cNvSpPr>
            <a:spLocks noGrp="1"/>
          </p:cNvSpPr>
          <p:nvPr/>
        </p:nvSpPr>
        <p:spPr>
          <a:xfrm>
            <a:off x="4095750" y="4457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SIGNAL PATH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F76ABA-AB81-4EBA-AB50-CF6A9BF6AE87}"/>
              </a:ext>
            </a:extLst>
          </p:cNvPr>
          <p:cNvSpPr>
            <a:spLocks noGrp="1"/>
          </p:cNvSpPr>
          <p:nvPr/>
        </p:nvSpPr>
        <p:spPr>
          <a:xfrm>
            <a:off x="4095750" y="477202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Multiplexer + ADC + Arduino → color-coded pressure map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3B74FE-C3A3-4612-A569-48500947E3F9}"/>
              </a:ext>
            </a:extLst>
          </p:cNvPr>
          <p:cNvSpPr>
            <a:spLocks noGrp="1"/>
          </p:cNvSpPr>
          <p:nvPr/>
        </p:nvSpPr>
        <p:spPr>
          <a:xfrm>
            <a:off x="7791450" y="4457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0B6A13-C033-4C41-8C5E-14F321394FEC}"/>
              </a:ext>
            </a:extLst>
          </p:cNvPr>
          <p:cNvSpPr>
            <a:spLocks noGrp="1"/>
          </p:cNvSpPr>
          <p:nvPr/>
        </p:nvSpPr>
        <p:spPr>
          <a:xfrm>
            <a:off x="7791450" y="4772025"/>
            <a:ext cx="352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Continuous distribution monitoring and a foundation for automated pressure relief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591FC0-929C-45CE-9F95-24163E62ACB1}"/>
              </a:ext>
            </a:extLst>
          </p:cNvPr>
          <p:cNvSpPr>
            <a:spLocks noGrp="1"/>
          </p:cNvSpPr>
          <p:nvPr/>
        </p:nvSpPr>
        <p:spPr>
          <a:xfrm>
            <a:off x="400050" y="5686425"/>
            <a:ext cx="66675" cy="514350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AC8FBB-97C0-4D3C-96F3-AC59ED74245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62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3198CF-7F96-411A-86F4-1486E8A5F8D1}"/>
              </a:ext>
            </a:extLst>
          </p:cNvPr>
          <p:cNvSpPr>
            <a:spLocks noGrp="1"/>
          </p:cNvSpPr>
          <p:nvPr/>
        </p:nvSpPr>
        <p:spPr>
          <a:xfrm>
            <a:off x="609600" y="5924549"/>
            <a:ext cx="11582400" cy="380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Co-led the team to 2nd place for Most Industry Impact at UIUC 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EOH </a:t>
            </a: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2025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and 1</a:t>
            </a:r>
            <a:r>
              <a:rPr lang="en-US" sz="1650" b="1" i="0" baseline="3000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place in EOH 2026</a:t>
            </a: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5423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2490620-0479-49DE-82BC-947E9456104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38D2B-9558-42EA-A264-ECA57C51807C}"/>
              </a:ext>
            </a:extLst>
          </p:cNvPr>
          <p:cNvSpPr>
            <a:spLocks noGrp="1"/>
          </p:cNvSpPr>
          <p:nvPr/>
        </p:nvSpPr>
        <p:spPr>
          <a:xfrm>
            <a:off x="400049" y="428625"/>
            <a:ext cx="3767817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ASME PRODUCT DEVELOPMENT — ASSISTIVE ROBOTICS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7645B6-1B46-4DD7-ADA2-53FF88F65DC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Solved charging and traction failures on a stair robot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F0B41-5939-47C5-8607-876E6E2B5C6D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1BCBE-425A-44BA-8F54-D10745ABF72F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Help an elderly user move bags upstairs with a rail-mounted robot that is simple to operate and reliable.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853AB08-D47D-467D-94E4-43C5E021407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230CA7F-A099-4F9F-B2E4-24392089BA3A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F164F-71CA-49D7-9576-EC5C0DDCE45F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2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4CB00-18F4-4553-8813-3FEAD0272657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CONTRIBUTIONS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7F111-D4DF-4809-9D49-D493C19C24E9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171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841D3-A03A-4466-A5FC-3BE1FFC89BE5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552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Selected, soldered, and tested rechargeable-battery circuitry; traced a failure to insufficient startup voltage.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9D9DA-0287-4655-A2D4-659304454C89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171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07C69-66DC-4890-8871-16E5D1742733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4552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Contributed C logic for smooth acceleration and deceleration near rail endpoints.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000AB-9908-472D-8609-55C073560347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171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0F728-FDD6-4D0E-8A1A-36E6C1964F2D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552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Fusion 360 mold for silicone wheels after low friction caused the robot to slip.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ACC1E5-1E7E-4B3E-9E69-34C2A691466B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66675" cy="838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83C7D-8122-4E4D-B09D-88961AC132A3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D57997-D5E6-4177-8891-AEBFCC001754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silicone-wheel change nearly eliminated rail slipping while the control updates improved motion quality.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318F88-8CDC-436A-9C17-E6507C805742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2381250" cy="2286000"/>
          </a:xfrm>
          <a:prstGeom prst="roundRect">
            <a:avLst>
              <a:gd name="adj" fmla="val 2917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rcRect t="2000" b="2000"/>
          <a:stretch>
            <a:fillRect/>
          </a:stretch>
        </p:blipFill>
        <p:spPr>
          <a:xfrm>
            <a:off x="5619750" y="2000250"/>
            <a:ext cx="2381250" cy="2286000"/>
          </a:xfrm>
          <a:prstGeom prst="roundRect">
            <a:avLst>
              <a:gd name="adj" fmla="val 2917"/>
            </a:avLst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626C1E-D580-4F2E-9E61-3E1AC8AE3344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1619250" cy="2286000"/>
          </a:xfrm>
          <a:prstGeom prst="roundRect">
            <a:avLst>
              <a:gd name="adj" fmla="val 411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72450" y="2333625"/>
            <a:ext cx="1619250" cy="1619250"/>
          </a:xfrm>
          <a:prstGeom prst="roundRect">
            <a:avLst>
              <a:gd name="adj" fmla="val 4118"/>
            </a:avLst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F6A6F3-14DF-4845-B1BC-403BB142B222}"/>
              </a:ext>
            </a:extLst>
          </p:cNvPr>
          <p:cNvSpPr>
            <a:spLocks noGrp="1"/>
          </p:cNvSpPr>
          <p:nvPr/>
        </p:nvSpPr>
        <p:spPr>
          <a:xfrm>
            <a:off x="9963150" y="2000250"/>
            <a:ext cx="1828800" cy="2286000"/>
          </a:xfrm>
          <a:prstGeom prst="roundRect">
            <a:avLst>
              <a:gd name="adj" fmla="val 3646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63150" y="2228850"/>
            <a:ext cx="1828800" cy="1828800"/>
          </a:xfrm>
          <a:prstGeom prst="roundRect">
            <a:avLst>
              <a:gd name="adj" fmla="val 3646"/>
            </a:avLst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94EC183-4049-4123-8FD2-A3A34CEE4BA2}"/>
              </a:ext>
            </a:extLst>
          </p:cNvPr>
          <p:cNvSpPr>
            <a:spLocks noGrp="1"/>
          </p:cNvSpPr>
          <p:nvPr/>
        </p:nvSpPr>
        <p:spPr>
          <a:xfrm>
            <a:off x="5619750" y="4572000"/>
            <a:ext cx="6172200" cy="10668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54E1B3-B00F-4631-8FD6-404B78968CC4}"/>
              </a:ext>
            </a:extLst>
          </p:cNvPr>
          <p:cNvSpPr>
            <a:spLocks noGrp="1"/>
          </p:cNvSpPr>
          <p:nvPr/>
        </p:nvSpPr>
        <p:spPr>
          <a:xfrm>
            <a:off x="5848350" y="47625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FAILURE → ROOT CAUSE → FIX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0967DE-7774-404E-9D70-D8F3513DE9EE}"/>
              </a:ext>
            </a:extLst>
          </p:cNvPr>
          <p:cNvSpPr>
            <a:spLocks noGrp="1"/>
          </p:cNvSpPr>
          <p:nvPr/>
        </p:nvSpPr>
        <p:spPr>
          <a:xfrm>
            <a:off x="5848350" y="51054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charging did not start  →  startup-voltage requirement  →  revised power approach</a:t>
            </a:r>
          </a:p>
        </p:txBody>
      </p:sp>
    </p:spTree>
    <p:extLst>
      <p:ext uri="{BB962C8B-B14F-4D97-AF65-F5344CB8AC3E}">
        <p14:creationId xmlns:p14="http://schemas.microsoft.com/office/powerpoint/2010/main" val="104049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C945621-A32C-4585-BE38-4B3937893C3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AC217-8D23-4355-A0B5-26C15A140F56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DIGITAL HARDWARE — FPGA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0BBB95-929D-405A-95A2-0D48977690A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Delivered real-time tennis on a Spartan-7 SoC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9A70D-1AC5-470B-A9BE-A003E968D981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C2DDF-50D9-4E34-9DC7-92F4EDF9D793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Build a two-player keyboard-controlled game with hardware-rendered graphics and responsive ball physics.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F32C990-206E-4031-8F5E-D7DA8EF2828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B6D10ED-30CD-4DB0-82E5-88D1820FCE5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21410-5A78-4D0B-8054-636B91C14F97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3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rcRect t="6579" b="6579"/>
          <a:stretch>
            <a:fillRect/>
          </a:stretch>
        </p:blipFill>
        <p:spPr>
          <a:xfrm>
            <a:off x="381000" y="2194835"/>
            <a:ext cx="3619500" cy="3143250"/>
          </a:xfrm>
          <a:prstGeom prst="roundRect">
            <a:avLst>
              <a:gd name="adj" fmla="val 2121"/>
            </a:avLst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08EB809-6251-4AA0-A036-2BD4359676CA}"/>
              </a:ext>
            </a:extLst>
          </p:cNvPr>
          <p:cNvSpPr>
            <a:spLocks noGrp="1"/>
          </p:cNvSpPr>
          <p:nvPr/>
        </p:nvSpPr>
        <p:spPr>
          <a:xfrm>
            <a:off x="4476750" y="20288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09D20B-89A8-4C4E-81EF-6D7517767770}"/>
              </a:ext>
            </a:extLst>
          </p:cNvPr>
          <p:cNvSpPr>
            <a:spLocks noGrp="1"/>
          </p:cNvSpPr>
          <p:nvPr/>
        </p:nvSpPr>
        <p:spPr>
          <a:xfrm>
            <a:off x="4476750" y="2409825"/>
            <a:ext cx="1381125" cy="514350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USB keyboard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9F2E9A-ECF5-42DC-BD68-2220B96EEC56}"/>
              </a:ext>
            </a:extLst>
          </p:cNvPr>
          <p:cNvSpPr>
            <a:spLocks noGrp="1"/>
          </p:cNvSpPr>
          <p:nvPr/>
        </p:nvSpPr>
        <p:spPr>
          <a:xfrm>
            <a:off x="5924550" y="24765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3D15E3-7E2D-47DB-BFE2-DCCB4E1465AF}"/>
              </a:ext>
            </a:extLst>
          </p:cNvPr>
          <p:cNvSpPr>
            <a:spLocks noGrp="1"/>
          </p:cNvSpPr>
          <p:nvPr/>
        </p:nvSpPr>
        <p:spPr>
          <a:xfrm>
            <a:off x="6334125" y="2333625"/>
            <a:ext cx="1428750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MAX3421E</a:t>
            </a:r>
          </a:p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SPI driver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89B424-7E6A-40B5-8BF2-B62B15FA5E3B}"/>
              </a:ext>
            </a:extLst>
          </p:cNvPr>
          <p:cNvSpPr>
            <a:spLocks noGrp="1"/>
          </p:cNvSpPr>
          <p:nvPr/>
        </p:nvSpPr>
        <p:spPr>
          <a:xfrm>
            <a:off x="7829550" y="24765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86B5A1F-AB60-405E-9772-8753F0472F91}"/>
              </a:ext>
            </a:extLst>
          </p:cNvPr>
          <p:cNvSpPr>
            <a:spLocks noGrp="1"/>
          </p:cNvSpPr>
          <p:nvPr/>
        </p:nvSpPr>
        <p:spPr>
          <a:xfrm>
            <a:off x="8239125" y="2333625"/>
            <a:ext cx="1381125" cy="647700"/>
          </a:xfrm>
          <a:prstGeom prst="roundRect">
            <a:avLst>
              <a:gd name="adj" fmla="val 8824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MicroBlaze</a:t>
            </a:r>
          </a:p>
          <a:p>
            <a:pPr algn="ctr">
              <a:defRPr sz="13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+ AXI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6E0E41-7C0E-4976-BA47-2EEF456F7D95}"/>
              </a:ext>
            </a:extLst>
          </p:cNvPr>
          <p:cNvSpPr>
            <a:spLocks noGrp="1"/>
          </p:cNvSpPr>
          <p:nvPr/>
        </p:nvSpPr>
        <p:spPr>
          <a:xfrm>
            <a:off x="9696450" y="24765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82611C-2D2A-4AE3-8746-865A2E0358A7}"/>
              </a:ext>
            </a:extLst>
          </p:cNvPr>
          <p:cNvSpPr>
            <a:spLocks noGrp="1"/>
          </p:cNvSpPr>
          <p:nvPr/>
        </p:nvSpPr>
        <p:spPr>
          <a:xfrm>
            <a:off x="10096500" y="2333625"/>
            <a:ext cx="1381125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HDMI</a:t>
            </a:r>
          </a:p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730AFB-239A-46A9-A7A8-5AF92EA91D85}"/>
              </a:ext>
            </a:extLst>
          </p:cNvPr>
          <p:cNvSpPr>
            <a:spLocks noGrp="1"/>
          </p:cNvSpPr>
          <p:nvPr/>
        </p:nvSpPr>
        <p:spPr>
          <a:xfrm>
            <a:off x="4476750" y="3276600"/>
            <a:ext cx="171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817769-2039-4E11-8F84-F16B01F3F443}"/>
              </a:ext>
            </a:extLst>
          </p:cNvPr>
          <p:cNvSpPr>
            <a:spLocks noGrp="1"/>
          </p:cNvSpPr>
          <p:nvPr/>
        </p:nvSpPr>
        <p:spPr>
          <a:xfrm>
            <a:off x="4686300" y="3276600"/>
            <a:ext cx="67913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Implemented player motion, collision/scoring logic, XYZ ball dynamics, sprite animation, and restart flow in SystemVerilog.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BE662A-62F3-4D72-9580-99EA69CBAF67}"/>
              </a:ext>
            </a:extLst>
          </p:cNvPr>
          <p:cNvSpPr>
            <a:spLocks noGrp="1"/>
          </p:cNvSpPr>
          <p:nvPr/>
        </p:nvSpPr>
        <p:spPr>
          <a:xfrm>
            <a:off x="4476750" y="3924300"/>
            <a:ext cx="171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C37C00-E1FB-414F-AAFA-079D488BEDC0}"/>
              </a:ext>
            </a:extLst>
          </p:cNvPr>
          <p:cNvSpPr>
            <a:spLocks noGrp="1"/>
          </p:cNvSpPr>
          <p:nvPr/>
        </p:nvSpPr>
        <p:spPr>
          <a:xfrm>
            <a:off x="4686300" y="3924300"/>
            <a:ext cx="67913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Used BRAM-backed graphics, UART debug messages, Vivado testbenches, and waveform analysis to close hardware issues.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498525F-1AA2-404D-82BD-DE247A75851E}"/>
              </a:ext>
            </a:extLst>
          </p:cNvPr>
          <p:cNvSpPr>
            <a:spLocks noGrp="1"/>
          </p:cNvSpPr>
          <p:nvPr/>
        </p:nvSpPr>
        <p:spPr>
          <a:xfrm>
            <a:off x="4476750" y="4810125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0186C8-6F4E-4A0A-A539-42FBFB6FE3EF}"/>
              </a:ext>
            </a:extLst>
          </p:cNvPr>
          <p:cNvSpPr>
            <a:spLocks noGrp="1"/>
          </p:cNvSpPr>
          <p:nvPr/>
        </p:nvSpPr>
        <p:spPr>
          <a:xfrm>
            <a:off x="4648200" y="4962525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77.9 MHz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076EA1-AA62-4355-99B3-FAA0A0C552E7}"/>
              </a:ext>
            </a:extLst>
          </p:cNvPr>
          <p:cNvSpPr>
            <a:spLocks noGrp="1"/>
          </p:cNvSpPr>
          <p:nvPr/>
        </p:nvSpPr>
        <p:spPr>
          <a:xfrm>
            <a:off x="4648200" y="543877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implemented frequency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FE56BC-19B9-4D08-845F-CB435BDB9AD0}"/>
              </a:ext>
            </a:extLst>
          </p:cNvPr>
          <p:cNvSpPr>
            <a:spLocks noGrp="1"/>
          </p:cNvSpPr>
          <p:nvPr/>
        </p:nvSpPr>
        <p:spPr>
          <a:xfrm>
            <a:off x="6619875" y="4810125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5DFAC0-723F-4373-A587-446C20248190}"/>
              </a:ext>
            </a:extLst>
          </p:cNvPr>
          <p:cNvSpPr>
            <a:spLocks noGrp="1"/>
          </p:cNvSpPr>
          <p:nvPr/>
        </p:nvSpPr>
        <p:spPr>
          <a:xfrm>
            <a:off x="6791325" y="4962525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0.479 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018354-2BD5-4AC0-A722-9161008125C5}"/>
              </a:ext>
            </a:extLst>
          </p:cNvPr>
          <p:cNvSpPr>
            <a:spLocks noGrp="1"/>
          </p:cNvSpPr>
          <p:nvPr/>
        </p:nvSpPr>
        <p:spPr>
          <a:xfrm>
            <a:off x="6791325" y="543877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estimated total power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F107A67-BC7F-4148-BC80-D256B3E8F202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4E287E-D5FC-4937-ACAD-6AFF9D0A419C}"/>
              </a:ext>
            </a:extLst>
          </p:cNvPr>
          <p:cNvSpPr>
            <a:spLocks noGrp="1"/>
          </p:cNvSpPr>
          <p:nvPr/>
        </p:nvSpPr>
        <p:spPr>
          <a:xfrm>
            <a:off x="8934450" y="4962525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4,197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97DDE0-3D1D-4F4C-80F6-956523268CA6}"/>
              </a:ext>
            </a:extLst>
          </p:cNvPr>
          <p:cNvSpPr>
            <a:spLocks noGrp="1"/>
          </p:cNvSpPr>
          <p:nvPr/>
        </p:nvSpPr>
        <p:spPr>
          <a:xfrm>
            <a:off x="8934450" y="543877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LUTs used</a:t>
            </a:r>
          </a:p>
        </p:txBody>
      </p:sp>
    </p:spTree>
    <p:extLst>
      <p:ext uri="{BB962C8B-B14F-4D97-AF65-F5344CB8AC3E}">
        <p14:creationId xmlns:p14="http://schemas.microsoft.com/office/powerpoint/2010/main" val="89539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963CB39-772D-494A-A10B-040B14674F3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DD55B-D73E-4BEF-925D-1DCA9C3E1F39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COMPUTER SYSTEMS — OPERATING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186F6-1975-4D58-8D81-5202047BC75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Built a RISC-V kernel from drivers to user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A53B14-9753-4770-BD54-13E8B6B7A407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0124A-B957-4415-A7E4-E74D7D65D9BE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Implement a working operating system on QEMU with virtual memory, storage, processes, and a usable shell.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36791CA-759D-4E62-BE88-4CED4E4EB044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3772105-2C62-49A0-A4BE-70833818B7C7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D239D-5F09-414B-9AE8-D3C9E542F1DE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4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314239"/>
            <a:ext cx="1809750" cy="2864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CE3D60-076E-472A-803A-84C38F6E59EF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44F96-984A-49DB-BD07-D87993D38EA7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BE869-DF36-48C6-BB47-5B4A668BF0A9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UART, RTC, PLIC, VirtIO block, and RNG drivers with a 64-entry block cache.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84ECEA-0CED-4C62-90E7-CE60A70AD8F2}"/>
              </a:ext>
            </a:extLst>
          </p:cNvPr>
          <p:cNvSpPr>
            <a:spLocks noGrp="1"/>
          </p:cNvSpPr>
          <p:nvPr/>
        </p:nvSpPr>
        <p:spPr>
          <a:xfrm>
            <a:off x="400050" y="4019550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DD058-73E5-4F66-AEC6-18957B7F2DA2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Sv39 virtual memory, memory management, and a Unix-style filesystem.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66C18-1B51-4021-94EF-7762CB2ED3DE}"/>
              </a:ext>
            </a:extLst>
          </p:cNvPr>
          <p:cNvSpPr>
            <a:spLocks noGrp="1"/>
          </p:cNvSpPr>
          <p:nvPr/>
        </p:nvSpPr>
        <p:spPr>
          <a:xfrm>
            <a:off x="400050" y="4610100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3DE02C-A538-4A6F-9822-25F60453059F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System calls, preemptive multitasking, context switches, pipes, I/O redirection, and concurrent pipelines.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F6C3A2-6CA1-4903-B5A8-263D48F73347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66675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6F3B4-56A2-46C1-8B9C-8CD43ED9157D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649182-4963-4C99-BF53-FF123BEC851D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4552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Delivered a kernel-to-shell environment in C and RISC-V assembly.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E9FEBB-686F-492C-AB5D-440CBD72C1EB}"/>
              </a:ext>
            </a:extLst>
          </p:cNvPr>
          <p:cNvSpPr>
            <a:spLocks noGrp="1"/>
          </p:cNvSpPr>
          <p:nvPr/>
        </p:nvSpPr>
        <p:spPr>
          <a:xfrm>
            <a:off x="6419850" y="20383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EDITABLE SOFTWARE STACK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F38281-9BBD-48C2-945A-F7DCB6357CCE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E9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8ED7BA-2F07-4D13-8FA2-D21C88F2EE5E}"/>
              </a:ext>
            </a:extLst>
          </p:cNvPr>
          <p:cNvSpPr>
            <a:spLocks noGrp="1"/>
          </p:cNvSpPr>
          <p:nvPr/>
        </p:nvSpPr>
        <p:spPr>
          <a:xfrm>
            <a:off x="6629400" y="25241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SHELL + USER PROGRAMS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F15F42-AEBD-42E0-B894-3BEC67626D5B}"/>
              </a:ext>
            </a:extLst>
          </p:cNvPr>
          <p:cNvSpPr>
            <a:spLocks noGrp="1"/>
          </p:cNvSpPr>
          <p:nvPr/>
        </p:nvSpPr>
        <p:spPr>
          <a:xfrm>
            <a:off x="6629400" y="28098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pipelines • redirection • concurrent execution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E5395B-894F-4E72-BC3B-05ECDE1AEB11}"/>
              </a:ext>
            </a:extLst>
          </p:cNvPr>
          <p:cNvSpPr>
            <a:spLocks noGrp="1"/>
          </p:cNvSpPr>
          <p:nvPr/>
        </p:nvSpPr>
        <p:spPr>
          <a:xfrm>
            <a:off x="6419850" y="32766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E8EEF7"/>
          </a:solidFill>
          <a:ln w="9525">
            <a:solidFill>
              <a:srgbClr val="163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36D870-2E25-42CD-8639-9552554ED3B7}"/>
              </a:ext>
            </a:extLst>
          </p:cNvPr>
          <p:cNvSpPr>
            <a:spLocks noGrp="1"/>
          </p:cNvSpPr>
          <p:nvPr/>
        </p:nvSpPr>
        <p:spPr>
          <a:xfrm>
            <a:off x="6629400" y="34004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PROCESS + SYSCALL LAYER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540398-B19A-4403-9985-F0D8363EAC06}"/>
              </a:ext>
            </a:extLst>
          </p:cNvPr>
          <p:cNvSpPr>
            <a:spLocks noGrp="1"/>
          </p:cNvSpPr>
          <p:nvPr/>
        </p:nvSpPr>
        <p:spPr>
          <a:xfrm>
            <a:off x="6629400" y="36861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preemption • context switching • pipes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0EEA50-C9D7-43C1-B7FC-D67F5471EBB2}"/>
              </a:ext>
            </a:extLst>
          </p:cNvPr>
          <p:cNvSpPr>
            <a:spLocks noGrp="1"/>
          </p:cNvSpPr>
          <p:nvPr/>
        </p:nvSpPr>
        <p:spPr>
          <a:xfrm>
            <a:off x="6419850" y="41529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2FE5C5-9C96-4E59-ABB4-9984A0914F30}"/>
              </a:ext>
            </a:extLst>
          </p:cNvPr>
          <p:cNvSpPr>
            <a:spLocks noGrp="1"/>
          </p:cNvSpPr>
          <p:nvPr/>
        </p:nvSpPr>
        <p:spPr>
          <a:xfrm>
            <a:off x="6629400" y="42767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VM + FILESYSTEM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8774BF-DF78-46B6-9EBA-AD4CB3FBC29A}"/>
              </a:ext>
            </a:extLst>
          </p:cNvPr>
          <p:cNvSpPr>
            <a:spLocks noGrp="1"/>
          </p:cNvSpPr>
          <p:nvPr/>
        </p:nvSpPr>
        <p:spPr>
          <a:xfrm>
            <a:off x="6629400" y="45624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Sv39 paging • allocators • Unix-style FS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0ED82D-D87F-44AF-B7B0-9A7FC0FB75BA}"/>
              </a:ext>
            </a:extLst>
          </p:cNvPr>
          <p:cNvSpPr>
            <a:spLocks noGrp="1"/>
          </p:cNvSpPr>
          <p:nvPr/>
        </p:nvSpPr>
        <p:spPr>
          <a:xfrm>
            <a:off x="6419850" y="50292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EDF7F1"/>
          </a:solidFill>
          <a:ln w="95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EAB130-6AE0-4D9F-A8AB-2C419617BEF7}"/>
              </a:ext>
            </a:extLst>
          </p:cNvPr>
          <p:cNvSpPr>
            <a:spLocks noGrp="1"/>
          </p:cNvSpPr>
          <p:nvPr/>
        </p:nvSpPr>
        <p:spPr>
          <a:xfrm>
            <a:off x="6629400" y="51530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DEVICE DRIVERS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A7EF50-5F61-491C-96BC-D083AF1CA3DA}"/>
              </a:ext>
            </a:extLst>
          </p:cNvPr>
          <p:cNvSpPr>
            <a:spLocks noGrp="1"/>
          </p:cNvSpPr>
          <p:nvPr/>
        </p:nvSpPr>
        <p:spPr>
          <a:xfrm>
            <a:off x="6629400" y="54387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UART • RTC • PLIC • VirtIO block/RNG</a:t>
            </a:r>
          </a:p>
        </p:txBody>
      </p:sp>
    </p:spTree>
    <p:extLst>
      <p:ext uri="{BB962C8B-B14F-4D97-AF65-F5344CB8AC3E}">
        <p14:creationId xmlns:p14="http://schemas.microsoft.com/office/powerpoint/2010/main" val="20229514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6884</TotalTime>
  <Words>1439</Words>
  <Application>Microsoft Office PowerPoint</Application>
  <DocSecurity>0</DocSecurity>
  <PresentationFormat>Widescreen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Gummadapu, Siddharth</cp:lastModifiedBy>
  <cp:revision>11</cp:revision>
  <dcterms:created xsi:type="dcterms:W3CDTF">2026-08-18T19:29:23Z</dcterms:created>
  <dcterms:modified xsi:type="dcterms:W3CDTF">2026-09-02T04:36:56Z</dcterms:modified>
</cp:coreProperties>
</file>